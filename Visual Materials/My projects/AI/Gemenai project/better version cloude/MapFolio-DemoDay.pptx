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C7293">
              <a:alpha val="30000"/>
            </a:srgbClr>
          </a:solidFill>
          <a:ln/>
        </p:spPr>
      </p:sp>
      <p:sp>
        <p:nvSpPr>
          <p:cNvPr id="3" name="Shape 1"/>
          <p:cNvSpPr/>
          <p:nvPr/>
        </p:nvSpPr>
        <p:spPr>
          <a:xfrm>
            <a:off x="-1371600" y="4114800"/>
            <a:ext cx="4114800" cy="4114800"/>
          </a:xfrm>
          <a:prstGeom prst="ellipse">
            <a:avLst/>
          </a:prstGeom>
          <a:solidFill>
            <a:srgbClr val="1C7293">
              <a:alpha val="20000"/>
            </a:srgbClr>
          </a:solidFill>
          <a:ln/>
        </p:spPr>
      </p:sp>
      <p:sp>
        <p:nvSpPr>
          <p:cNvPr id="4" name="Text 2"/>
          <p:cNvSpPr/>
          <p:nvPr/>
        </p:nvSpPr>
        <p:spPr>
          <a:xfrm>
            <a:off x="822960" y="1371600"/>
            <a:ext cx="1371600" cy="1371600"/>
          </a:xfrm>
          <a:prstGeom prst="rect">
            <a:avLst/>
          </a:prstGeom>
          <a:noFill/>
          <a:ln/>
        </p:spPr>
        <p:txBody>
          <a:bodyPr wrap="square" rtlCol="0" anchor="ctr"/>
          <a:lstStyle/>
          <a:p>
            <a:pPr algn="l" indent="0" marL="0">
              <a:buNone/>
            </a:pPr>
            <a:r>
              <a:rPr lang="en-US" sz="6000" dirty="0">
                <a:solidFill>
                  <a:srgbClr val="000000"/>
                </a:solidFill>
              </a:rPr>
              <a:t>📍</a:t>
            </a:r>
            <a:endParaRPr lang="en-US" sz="6000" dirty="0"/>
          </a:p>
        </p:txBody>
      </p:sp>
      <p:sp>
        <p:nvSpPr>
          <p:cNvPr id="5" name="Text 3"/>
          <p:cNvSpPr/>
          <p:nvPr/>
        </p:nvSpPr>
        <p:spPr>
          <a:xfrm>
            <a:off x="822960" y="2377440"/>
            <a:ext cx="7315200" cy="1097280"/>
          </a:xfrm>
          <a:prstGeom prst="rect">
            <a:avLst/>
          </a:prstGeom>
          <a:noFill/>
          <a:ln/>
        </p:spPr>
        <p:txBody>
          <a:bodyPr wrap="square" lIns="0" tIns="0" rIns="0" bIns="0" rtlCol="0" anchor="ctr"/>
          <a:lstStyle/>
          <a:p>
            <a:pPr indent="0" marL="0">
              <a:buNone/>
            </a:pPr>
            <a:r>
              <a:rPr lang="en-US" sz="6000" b="1" dirty="0">
                <a:solidFill>
                  <a:srgbClr val="FFFFFF"/>
                </a:solidFill>
                <a:latin typeface="Trebuchet MS" pitchFamily="34" charset="0"/>
                <a:ea typeface="Trebuchet MS" pitchFamily="34" charset="-122"/>
                <a:cs typeface="Trebuchet MS" pitchFamily="34" charset="-120"/>
              </a:rPr>
              <a:t>MapFolio</a:t>
            </a:r>
            <a:endParaRPr lang="en-US" sz="6000" dirty="0"/>
          </a:p>
        </p:txBody>
      </p:sp>
      <p:sp>
        <p:nvSpPr>
          <p:cNvPr id="6" name="Text 4"/>
          <p:cNvSpPr/>
          <p:nvPr/>
        </p:nvSpPr>
        <p:spPr>
          <a:xfrm>
            <a:off x="822960" y="3474720"/>
            <a:ext cx="8229600" cy="548640"/>
          </a:xfrm>
          <a:prstGeom prst="rect">
            <a:avLst/>
          </a:prstGeom>
          <a:noFill/>
          <a:ln/>
        </p:spPr>
        <p:txBody>
          <a:bodyPr wrap="square" lIns="0" tIns="0" rIns="0" bIns="0" rtlCol="0" anchor="ctr"/>
          <a:lstStyle/>
          <a:p>
            <a:pPr indent="0" marL="0">
              <a:buNone/>
            </a:pPr>
            <a:r>
              <a:rPr lang="en-US" sz="2200" dirty="0">
                <a:solidFill>
                  <a:srgbClr val="FFDE59"/>
                </a:solidFill>
                <a:latin typeface="Calibri" pitchFamily="34" charset="0"/>
                <a:ea typeface="Calibri" pitchFamily="34" charset="-122"/>
                <a:cs typeface="Calibri" pitchFamily="34" charset="-120"/>
              </a:rPr>
              <a:t>Organize your favorite places on a personal map</a:t>
            </a:r>
            <a:endParaRPr lang="en-US" sz="2200" dirty="0"/>
          </a:p>
        </p:txBody>
      </p:sp>
      <p:sp>
        <p:nvSpPr>
          <p:cNvPr id="7" name="Text 5"/>
          <p:cNvSpPr/>
          <p:nvPr/>
        </p:nvSpPr>
        <p:spPr>
          <a:xfrm>
            <a:off x="822960" y="5943600"/>
            <a:ext cx="10058400" cy="457200"/>
          </a:xfrm>
          <a:prstGeom prst="rect">
            <a:avLst/>
          </a:prstGeom>
          <a:noFill/>
          <a:ln/>
        </p:spPr>
        <p:txBody>
          <a:bodyPr wrap="square" lIns="0" tIns="0" rIns="0" bIns="0" rtlCol="0" anchor="ctr"/>
          <a:lstStyle/>
          <a:p>
            <a:pPr indent="0" marL="0">
              <a:buNone/>
            </a:pPr>
            <a:r>
              <a:rPr lang="en-US" sz="1400" dirty="0">
                <a:solidFill>
                  <a:srgbClr val="AEB9C9"/>
                </a:solidFill>
                <a:latin typeface="Calibri" pitchFamily="34" charset="0"/>
                <a:ea typeface="Calibri" pitchFamily="34" charset="-122"/>
                <a:cs typeface="Calibri" pitchFamily="34" charset="-120"/>
              </a:rPr>
              <a:t>Demo Day  •  Built solo over 3 weeks  •  No backend, no account, your data stays on your device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What is MapFolio?</a:t>
            </a:r>
            <a:endParaRPr lang="en-US" sz="3200" dirty="0"/>
          </a:p>
        </p:txBody>
      </p:sp>
      <p:sp>
        <p:nvSpPr>
          <p:cNvPr id="3" name="Shape 1"/>
          <p:cNvSpPr/>
          <p:nvPr/>
        </p:nvSpPr>
        <p:spPr>
          <a:xfrm>
            <a:off x="548640" y="1463040"/>
            <a:ext cx="6766560" cy="4754880"/>
          </a:xfrm>
          <a:prstGeom prst="rect">
            <a:avLst/>
          </a:prstGeom>
          <a:solidFill>
            <a:srgbClr val="F4F6F8"/>
          </a:solidFill>
          <a:ln/>
        </p:spPr>
      </p:sp>
      <p:sp>
        <p:nvSpPr>
          <p:cNvPr id="4" name="Text 2"/>
          <p:cNvSpPr/>
          <p:nvPr/>
        </p:nvSpPr>
        <p:spPr>
          <a:xfrm>
            <a:off x="914400" y="1783080"/>
            <a:ext cx="6035040" cy="4114800"/>
          </a:xfrm>
          <a:prstGeom prst="rect">
            <a:avLst/>
          </a:prstGeom>
          <a:noFill/>
          <a:ln/>
        </p:spPr>
        <p:txBody>
          <a:bodyPr wrap="square" lIns="0" tIns="0" rIns="0" bIns="0" rtlCol="0" anchor="t"/>
          <a:lstStyle/>
          <a:p>
            <a:pPr indent="0" marL="0">
              <a:lnSpc>
                <a:spcPct val="115000"/>
              </a:lnSpc>
              <a:buNone/>
            </a:pPr>
            <a:r>
              <a:rPr lang="en-US" sz="2000" b="1" dirty="0">
                <a:solidFill>
                  <a:srgbClr val="14213D"/>
                </a:solidFill>
                <a:latin typeface="Calibri" pitchFamily="34" charset="0"/>
                <a:ea typeface="Calibri" pitchFamily="34" charset="-122"/>
                <a:cs typeface="Calibri" pitchFamily="34" charset="-120"/>
              </a:rPr>
              <a:t>MapFolio is a free web app for organizing your favorite places on a personal map.</a:t>
            </a:r>
            <a:endParaRPr lang="en-US" sz="2000" dirty="0"/>
          </a:p>
          <a:p>
            <a:pPr indent="0" marL="0">
              <a:lnSpc>
                <a:spcPct val="115000"/>
              </a:lnSpc>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lnSpc>
                <a:spcPct val="115000"/>
              </a:lnSpc>
              <a:buNone/>
            </a:pPr>
            <a:r>
              <a:rPr lang="en-US" sz="1600" dirty="0">
                <a:solidFill>
                  <a:srgbClr val="1E1E1E"/>
                </a:solidFill>
                <a:latin typeface="Calibri" pitchFamily="34" charset="0"/>
                <a:ea typeface="Calibri" pitchFamily="34" charset="-122"/>
                <a:cs typeface="Calibri" pitchFamily="34" charset="-120"/>
              </a:rPr>
              <a:t>Import your existing Google Maps saved places, or start fresh and build your own collections from scratch.</a:t>
            </a:r>
            <a:endParaRPr lang="en-US" sz="2000" dirty="0"/>
          </a:p>
          <a:p>
            <a:pPr indent="0" marL="0">
              <a:lnSpc>
                <a:spcPct val="115000"/>
              </a:lnSpc>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lnSpc>
                <a:spcPct val="115000"/>
              </a:lnSpc>
              <a:buNone/>
            </a:pPr>
            <a:r>
              <a:rPr lang="en-US" sz="1600" dirty="0">
                <a:solidFill>
                  <a:srgbClr val="1E1E1E"/>
                </a:solidFill>
                <a:latin typeface="Calibri" pitchFamily="34" charset="0"/>
                <a:ea typeface="Calibri" pitchFamily="34" charset="-122"/>
                <a:cs typeface="Calibri" pitchFamily="34" charset="-120"/>
              </a:rPr>
              <a:t>Sort everything into folders, tag places with custom categories, and color-code them by status: Want to Go, Loved It, Skip It.</a:t>
            </a:r>
            <a:endParaRPr lang="en-US" sz="2000" dirty="0"/>
          </a:p>
          <a:p>
            <a:pPr indent="0" marL="0">
              <a:lnSpc>
                <a:spcPct val="115000"/>
              </a:lnSpc>
              <a:buNone/>
            </a:pPr>
            <a:r>
              <a:rPr lang="en-US" sz="800" dirty="0">
                <a:solidFill>
                  <a:srgbClr val="000000"/>
                </a:solidFill>
                <a:latin typeface="Calibri" pitchFamily="34" charset="0"/>
                <a:ea typeface="Calibri" pitchFamily="34" charset="-122"/>
                <a:cs typeface="Calibri" pitchFamily="34" charset="-120"/>
              </a:rPr>
              <a:t> </a:t>
            </a:r>
            <a:endParaRPr lang="en-US" sz="2000" dirty="0"/>
          </a:p>
          <a:p>
            <a:pPr indent="0" marL="0">
              <a:lnSpc>
                <a:spcPct val="115000"/>
              </a:lnSpc>
              <a:buNone/>
            </a:pPr>
            <a:r>
              <a:rPr lang="en-US" sz="1600" dirty="0">
                <a:solidFill>
                  <a:srgbClr val="1E1E1E"/>
                </a:solidFill>
                <a:latin typeface="Calibri" pitchFamily="34" charset="0"/>
                <a:ea typeface="Calibri" pitchFamily="34" charset="-122"/>
                <a:cs typeface="Calibri" pitchFamily="34" charset="-120"/>
              </a:rPr>
              <a:t>There's even a trip planner that turns any collection into a day-by-day itinerary.</a:t>
            </a:r>
            <a:endParaRPr lang="en-US" sz="2000" dirty="0"/>
          </a:p>
        </p:txBody>
      </p:sp>
      <p:sp>
        <p:nvSpPr>
          <p:cNvPr id="5" name="Shape 3"/>
          <p:cNvSpPr/>
          <p:nvPr/>
        </p:nvSpPr>
        <p:spPr>
          <a:xfrm>
            <a:off x="7589520" y="1463040"/>
            <a:ext cx="4023360" cy="1417320"/>
          </a:xfrm>
          <a:prstGeom prst="rect">
            <a:avLst/>
          </a:prstGeom>
          <a:solidFill>
            <a:srgbClr val="14213D"/>
          </a:solidFill>
          <a:ln/>
        </p:spPr>
      </p:sp>
      <p:sp>
        <p:nvSpPr>
          <p:cNvPr id="6" name="Text 4"/>
          <p:cNvSpPr/>
          <p:nvPr/>
        </p:nvSpPr>
        <p:spPr>
          <a:xfrm>
            <a:off x="7818120" y="1627632"/>
            <a:ext cx="822960" cy="1097280"/>
          </a:xfrm>
          <a:prstGeom prst="rect">
            <a:avLst/>
          </a:prstGeom>
          <a:noFill/>
          <a:ln/>
        </p:spPr>
        <p:txBody>
          <a:bodyPr wrap="square" lIns="0" tIns="0" rIns="0" bIns="0" rtlCol="0" anchor="t"/>
          <a:lstStyle/>
          <a:p>
            <a:pPr indent="0" marL="0">
              <a:buNone/>
            </a:pPr>
            <a:r>
              <a:rPr lang="en-US" sz="3200" dirty="0">
                <a:solidFill>
                  <a:srgbClr val="000000"/>
                </a:solidFill>
              </a:rPr>
              <a:t>🔒</a:t>
            </a:r>
            <a:endParaRPr lang="en-US" sz="3200" dirty="0"/>
          </a:p>
        </p:txBody>
      </p:sp>
      <p:sp>
        <p:nvSpPr>
          <p:cNvPr id="7" name="Text 5"/>
          <p:cNvSpPr/>
          <p:nvPr/>
        </p:nvSpPr>
        <p:spPr>
          <a:xfrm>
            <a:off x="8595360" y="1645920"/>
            <a:ext cx="2880360" cy="54864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No account needed</a:t>
            </a:r>
            <a:endParaRPr lang="en-US" sz="1600" dirty="0"/>
          </a:p>
        </p:txBody>
      </p:sp>
      <p:sp>
        <p:nvSpPr>
          <p:cNvPr id="8" name="Text 6"/>
          <p:cNvSpPr/>
          <p:nvPr/>
        </p:nvSpPr>
        <p:spPr>
          <a:xfrm>
            <a:off x="8595360" y="2148840"/>
            <a:ext cx="2926080" cy="640080"/>
          </a:xfrm>
          <a:prstGeom prst="rect">
            <a:avLst/>
          </a:prstGeom>
          <a:noFill/>
          <a:ln/>
        </p:spPr>
        <p:txBody>
          <a:bodyPr wrap="square" lIns="0" tIns="0" rIns="0" bIns="0" rtlCol="0" anchor="ctr"/>
          <a:lstStyle/>
          <a:p>
            <a:pPr indent="0" marL="0">
              <a:buNone/>
            </a:pPr>
            <a:r>
              <a:rPr lang="en-US" sz="1250" dirty="0">
                <a:solidFill>
                  <a:srgbClr val="D7DEE6"/>
                </a:solidFill>
                <a:latin typeface="Calibri" pitchFamily="34" charset="0"/>
                <a:ea typeface="Calibri" pitchFamily="34" charset="-122"/>
                <a:cs typeface="Calibri" pitchFamily="34" charset="-120"/>
              </a:rPr>
              <a:t>Your data stays on your device</a:t>
            </a:r>
            <a:endParaRPr lang="en-US" sz="1250" dirty="0"/>
          </a:p>
        </p:txBody>
      </p:sp>
      <p:sp>
        <p:nvSpPr>
          <p:cNvPr id="9" name="Shape 7"/>
          <p:cNvSpPr/>
          <p:nvPr/>
        </p:nvSpPr>
        <p:spPr>
          <a:xfrm>
            <a:off x="7589520" y="3154680"/>
            <a:ext cx="4023360" cy="1417320"/>
          </a:xfrm>
          <a:prstGeom prst="rect">
            <a:avLst/>
          </a:prstGeom>
          <a:solidFill>
            <a:srgbClr val="14213D"/>
          </a:solidFill>
          <a:ln/>
        </p:spPr>
      </p:sp>
      <p:sp>
        <p:nvSpPr>
          <p:cNvPr id="10" name="Text 8"/>
          <p:cNvSpPr/>
          <p:nvPr/>
        </p:nvSpPr>
        <p:spPr>
          <a:xfrm>
            <a:off x="7818120" y="3319272"/>
            <a:ext cx="822960" cy="1097280"/>
          </a:xfrm>
          <a:prstGeom prst="rect">
            <a:avLst/>
          </a:prstGeom>
          <a:noFill/>
          <a:ln/>
        </p:spPr>
        <p:txBody>
          <a:bodyPr wrap="square" lIns="0" tIns="0" rIns="0" bIns="0" rtlCol="0" anchor="t"/>
          <a:lstStyle/>
          <a:p>
            <a:pPr indent="0" marL="0">
              <a:buNone/>
            </a:pPr>
            <a:r>
              <a:rPr lang="en-US" sz="3200" dirty="0">
                <a:solidFill>
                  <a:srgbClr val="000000"/>
                </a:solidFill>
              </a:rPr>
              <a:t>🆓</a:t>
            </a:r>
            <a:endParaRPr lang="en-US" sz="3200" dirty="0"/>
          </a:p>
        </p:txBody>
      </p:sp>
      <p:sp>
        <p:nvSpPr>
          <p:cNvPr id="11" name="Text 9"/>
          <p:cNvSpPr/>
          <p:nvPr/>
        </p:nvSpPr>
        <p:spPr>
          <a:xfrm>
            <a:off x="8595360" y="3337560"/>
            <a:ext cx="2880360" cy="54864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Free to use</a:t>
            </a:r>
            <a:endParaRPr lang="en-US" sz="1600" dirty="0"/>
          </a:p>
        </p:txBody>
      </p:sp>
      <p:sp>
        <p:nvSpPr>
          <p:cNvPr id="12" name="Text 10"/>
          <p:cNvSpPr/>
          <p:nvPr/>
        </p:nvSpPr>
        <p:spPr>
          <a:xfrm>
            <a:off x="8595360" y="3840480"/>
            <a:ext cx="2926080" cy="640080"/>
          </a:xfrm>
          <a:prstGeom prst="rect">
            <a:avLst/>
          </a:prstGeom>
          <a:noFill/>
          <a:ln/>
        </p:spPr>
        <p:txBody>
          <a:bodyPr wrap="square" lIns="0" tIns="0" rIns="0" bIns="0" rtlCol="0" anchor="ctr"/>
          <a:lstStyle/>
          <a:p>
            <a:pPr indent="0" marL="0">
              <a:buNone/>
            </a:pPr>
            <a:r>
              <a:rPr lang="en-US" sz="1250" dirty="0">
                <a:solidFill>
                  <a:srgbClr val="D7DEE6"/>
                </a:solidFill>
                <a:latin typeface="Calibri" pitchFamily="34" charset="0"/>
                <a:ea typeface="Calibri" pitchFamily="34" charset="-122"/>
                <a:cs typeface="Calibri" pitchFamily="34" charset="-120"/>
              </a:rPr>
              <a:t>Nothing to buy, nothing to sign up for</a:t>
            </a:r>
            <a:endParaRPr lang="en-US" sz="1250" dirty="0"/>
          </a:p>
        </p:txBody>
      </p:sp>
      <p:sp>
        <p:nvSpPr>
          <p:cNvPr id="13" name="Shape 11"/>
          <p:cNvSpPr/>
          <p:nvPr/>
        </p:nvSpPr>
        <p:spPr>
          <a:xfrm>
            <a:off x="7589520" y="4846320"/>
            <a:ext cx="4023360" cy="1417320"/>
          </a:xfrm>
          <a:prstGeom prst="rect">
            <a:avLst/>
          </a:prstGeom>
          <a:solidFill>
            <a:srgbClr val="14213D"/>
          </a:solidFill>
          <a:ln/>
        </p:spPr>
      </p:sp>
      <p:sp>
        <p:nvSpPr>
          <p:cNvPr id="14" name="Text 12"/>
          <p:cNvSpPr/>
          <p:nvPr/>
        </p:nvSpPr>
        <p:spPr>
          <a:xfrm>
            <a:off x="7818120" y="5010912"/>
            <a:ext cx="822960" cy="1097280"/>
          </a:xfrm>
          <a:prstGeom prst="rect">
            <a:avLst/>
          </a:prstGeom>
          <a:noFill/>
          <a:ln/>
        </p:spPr>
        <p:txBody>
          <a:bodyPr wrap="square" lIns="0" tIns="0" rIns="0" bIns="0" rtlCol="0" anchor="t"/>
          <a:lstStyle/>
          <a:p>
            <a:pPr indent="0" marL="0">
              <a:buNone/>
            </a:pPr>
            <a:r>
              <a:rPr lang="en-US" sz="3200" dirty="0">
                <a:solidFill>
                  <a:srgbClr val="000000"/>
                </a:solidFill>
              </a:rPr>
              <a:t>🗺️</a:t>
            </a:r>
            <a:endParaRPr lang="en-US" sz="3200" dirty="0"/>
          </a:p>
        </p:txBody>
      </p:sp>
      <p:sp>
        <p:nvSpPr>
          <p:cNvPr id="15" name="Text 13"/>
          <p:cNvSpPr/>
          <p:nvPr/>
        </p:nvSpPr>
        <p:spPr>
          <a:xfrm>
            <a:off x="8595360" y="5029200"/>
            <a:ext cx="2880360" cy="54864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Works with Google Maps exports</a:t>
            </a:r>
            <a:endParaRPr lang="en-US" sz="1600" dirty="0"/>
          </a:p>
        </p:txBody>
      </p:sp>
      <p:sp>
        <p:nvSpPr>
          <p:cNvPr id="16" name="Text 14"/>
          <p:cNvSpPr/>
          <p:nvPr/>
        </p:nvSpPr>
        <p:spPr>
          <a:xfrm>
            <a:off x="8595360" y="5532120"/>
            <a:ext cx="2926080" cy="640080"/>
          </a:xfrm>
          <a:prstGeom prst="rect">
            <a:avLst/>
          </a:prstGeom>
          <a:noFill/>
          <a:ln/>
        </p:spPr>
        <p:txBody>
          <a:bodyPr wrap="square" lIns="0" tIns="0" rIns="0" bIns="0" rtlCol="0" anchor="ctr"/>
          <a:lstStyle/>
          <a:p>
            <a:pPr indent="0" marL="0">
              <a:buNone/>
            </a:pPr>
            <a:r>
              <a:rPr lang="en-US" sz="1250" dirty="0">
                <a:solidFill>
                  <a:srgbClr val="D7DEE6"/>
                </a:solidFill>
                <a:latin typeface="Calibri" pitchFamily="34" charset="0"/>
                <a:ea typeface="Calibri" pitchFamily="34" charset="-122"/>
                <a:cs typeface="Calibri" pitchFamily="34" charset="-120"/>
              </a:rPr>
              <a:t>Bring in your existing saved places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What I set out to explore</a:t>
            </a:r>
            <a:endParaRPr lang="en-US" sz="3200" dirty="0"/>
          </a:p>
        </p:txBody>
      </p:sp>
      <p:sp>
        <p:nvSpPr>
          <p:cNvPr id="3" name="Text 1"/>
          <p:cNvSpPr/>
          <p:nvPr/>
        </p:nvSpPr>
        <p:spPr>
          <a:xfrm>
            <a:off x="640080" y="1554480"/>
            <a:ext cx="6583680" cy="438912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1E1E1E"/>
                </a:solidFill>
                <a:latin typeface="Calibri" pitchFamily="34" charset="0"/>
                <a:ea typeface="Calibri" pitchFamily="34" charset="-122"/>
                <a:cs typeface="Calibri" pitchFamily="34" charset="-120"/>
              </a:rPr>
              <a:t>Google Maps lets you star and save places — but never lets you organize, search, color-code, or plan trips around them.</a:t>
            </a:r>
            <a:endParaRPr lang="en-US" sz="1800" dirty="0"/>
          </a:p>
          <a:p>
            <a:pPr indent="0" marL="0">
              <a:lnSpc>
                <a:spcPct val="120000"/>
              </a:lnSpc>
              <a:spcAft>
                <a:spcPts val="1400"/>
              </a:spcAft>
              <a:buNone/>
            </a:pPr>
            <a:r>
              <a:rPr lang="en-US" sz="1800" dirty="0">
                <a:solidFill>
                  <a:srgbClr val="1E1E1E"/>
                </a:solidFill>
                <a:latin typeface="Calibri" pitchFamily="34" charset="0"/>
                <a:ea typeface="Calibri" pitchFamily="34" charset="-122"/>
                <a:cs typeface="Calibri" pitchFamily="34" charset="-120"/>
              </a:rPr>
              <a:t>Goal: build a tool that takes that pile of saved places and turns it into something useful — sortable, searchable, shareable, and tied to an actual trip plan.</a:t>
            </a:r>
            <a:endParaRPr lang="en-US" sz="1800" dirty="0"/>
          </a:p>
          <a:p>
            <a:pPr indent="0" marL="0">
              <a:lnSpc>
                <a:spcPct val="120000"/>
              </a:lnSpc>
              <a:buNone/>
            </a:pPr>
            <a:r>
              <a:rPr lang="en-US" sz="1800" dirty="0">
                <a:solidFill>
                  <a:srgbClr val="1E1E1E"/>
                </a:solidFill>
                <a:latin typeface="Calibri" pitchFamily="34" charset="0"/>
                <a:ea typeface="Calibri" pitchFamily="34" charset="-122"/>
                <a:cs typeface="Calibri" pitchFamily="34" charset="-120"/>
              </a:rPr>
              <a:t>Constraint I set for myself: no backend, no account system, no framework — just HTML, CSS and JavaScript, so anyone can open it and their data never leaves their device.</a:t>
            </a:r>
            <a:endParaRPr lang="en-US" sz="1800" dirty="0"/>
          </a:p>
        </p:txBody>
      </p:sp>
      <p:pic>
        <p:nvPicPr>
          <p:cNvPr id="4" name="Image 0" descr="shots/desktop-main.png">    </p:cNvPr>
          <p:cNvPicPr>
            <a:picLocks noChangeAspect="1"/>
          </p:cNvPicPr>
          <p:nvPr/>
        </p:nvPicPr>
        <p:blipFill>
          <a:blip r:embed="rId1"/>
          <a:srcRect l="0" r="0" t="0" b="0"/>
          <a:stretch/>
        </p:blipFill>
        <p:spPr>
          <a:xfrm>
            <a:off x="7360920" y="1371600"/>
            <a:ext cx="4297680" cy="2688336"/>
          </a:xfrm>
          <a:prstGeom prst="rect">
            <a:avLst/>
          </a:prstGeom>
          <a:effectLst>
            <a:outerShdw sx="100000" sy="100000" kx="0" ky="0" algn="bl" rotWithShape="0" blurRad="101600" dist="38100" dir="8100000">
              <a:srgbClr val="000000">
                <a:alpha val="20000"/>
              </a:srgbClr>
            </a:outerShdw>
          </a:effectLst>
        </p:spPr>
      </p:pic>
      <p:sp>
        <p:nvSpPr>
          <p:cNvPr id="5" name="Text 2"/>
          <p:cNvSpPr/>
          <p:nvPr/>
        </p:nvSpPr>
        <p:spPr>
          <a:xfrm>
            <a:off x="7360920" y="4206240"/>
            <a:ext cx="4297680" cy="365760"/>
          </a:xfrm>
          <a:prstGeom prst="rect">
            <a:avLst/>
          </a:prstGeom>
          <a:noFill/>
          <a:ln/>
        </p:spPr>
        <p:txBody>
          <a:bodyPr wrap="square" lIns="0" tIns="0" rIns="0" bIns="0" rtlCol="0" anchor="ctr"/>
          <a:lstStyle/>
          <a:p>
            <a:pPr indent="0" marL="0">
              <a:buNone/>
            </a:pPr>
            <a:r>
              <a:rPr lang="en-US" sz="1200" i="1" dirty="0">
                <a:solidFill>
                  <a:srgbClr val="5A6B7A"/>
                </a:solidFill>
                <a:latin typeface="Calibri" pitchFamily="34" charset="0"/>
                <a:ea typeface="Calibri" pitchFamily="34" charset="-122"/>
                <a:cs typeface="Calibri" pitchFamily="34" charset="-120"/>
              </a:rPr>
              <a:t>Built with: vanilla JS, Leaflet maps, OpenStreetMap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What I achieved</a:t>
            </a:r>
            <a:endParaRPr lang="en-US" sz="3200" dirty="0"/>
          </a:p>
        </p:txBody>
      </p:sp>
      <p:sp>
        <p:nvSpPr>
          <p:cNvPr id="3" name="Shape 1"/>
          <p:cNvSpPr/>
          <p:nvPr/>
        </p:nvSpPr>
        <p:spPr>
          <a:xfrm>
            <a:off x="548640" y="1554480"/>
            <a:ext cx="3611880" cy="2331720"/>
          </a:xfrm>
          <a:prstGeom prst="rect">
            <a:avLst/>
          </a:prstGeom>
          <a:solidFill>
            <a:srgbClr val="F4F6F8"/>
          </a:solidFill>
          <a:ln/>
        </p:spPr>
      </p:sp>
      <p:sp>
        <p:nvSpPr>
          <p:cNvPr id="4" name="Shape 2"/>
          <p:cNvSpPr/>
          <p:nvPr/>
        </p:nvSpPr>
        <p:spPr>
          <a:xfrm>
            <a:off x="548640" y="1554480"/>
            <a:ext cx="73152" cy="2331720"/>
          </a:xfrm>
          <a:prstGeom prst="rect">
            <a:avLst/>
          </a:prstGeom>
          <a:solidFill>
            <a:srgbClr val="1C7293"/>
          </a:solidFill>
          <a:ln/>
        </p:spPr>
      </p:sp>
      <p:sp>
        <p:nvSpPr>
          <p:cNvPr id="5" name="Text 3"/>
          <p:cNvSpPr/>
          <p:nvPr/>
        </p:nvSpPr>
        <p:spPr>
          <a:xfrm>
            <a:off x="777240" y="171907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p:nvPr/>
        </p:nvSpPr>
        <p:spPr>
          <a:xfrm>
            <a:off x="777240" y="228600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Import from anywhere</a:t>
            </a:r>
            <a:endParaRPr lang="en-US" sz="1500" dirty="0"/>
          </a:p>
        </p:txBody>
      </p:sp>
      <p:sp>
        <p:nvSpPr>
          <p:cNvPr id="7" name="Text 5"/>
          <p:cNvSpPr/>
          <p:nvPr/>
        </p:nvSpPr>
        <p:spPr>
          <a:xfrm>
            <a:off x="777240" y="274320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Google Takeout JSON, KML/KMZ, CSV — with auto-geocoding for places missing coordinates</a:t>
            </a:r>
            <a:endParaRPr lang="en-US" sz="1150" dirty="0"/>
          </a:p>
        </p:txBody>
      </p:sp>
      <p:sp>
        <p:nvSpPr>
          <p:cNvPr id="8" name="Shape 6"/>
          <p:cNvSpPr/>
          <p:nvPr/>
        </p:nvSpPr>
        <p:spPr>
          <a:xfrm>
            <a:off x="4434840" y="1554480"/>
            <a:ext cx="3611880" cy="2331720"/>
          </a:xfrm>
          <a:prstGeom prst="rect">
            <a:avLst/>
          </a:prstGeom>
          <a:solidFill>
            <a:srgbClr val="F4F6F8"/>
          </a:solidFill>
          <a:ln/>
        </p:spPr>
      </p:sp>
      <p:sp>
        <p:nvSpPr>
          <p:cNvPr id="9" name="Shape 7"/>
          <p:cNvSpPr/>
          <p:nvPr/>
        </p:nvSpPr>
        <p:spPr>
          <a:xfrm>
            <a:off x="4434840" y="1554480"/>
            <a:ext cx="73152" cy="2331720"/>
          </a:xfrm>
          <a:prstGeom prst="rect">
            <a:avLst/>
          </a:prstGeom>
          <a:solidFill>
            <a:srgbClr val="1C7293"/>
          </a:solidFill>
          <a:ln/>
        </p:spPr>
      </p:sp>
      <p:sp>
        <p:nvSpPr>
          <p:cNvPr id="10" name="Text 8"/>
          <p:cNvSpPr/>
          <p:nvPr/>
        </p:nvSpPr>
        <p:spPr>
          <a:xfrm>
            <a:off x="4663440" y="171907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1" name="Text 9"/>
          <p:cNvSpPr/>
          <p:nvPr/>
        </p:nvSpPr>
        <p:spPr>
          <a:xfrm>
            <a:off x="4663440" y="228600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Folders &amp; custom categories</a:t>
            </a:r>
            <a:endParaRPr lang="en-US" sz="1500" dirty="0"/>
          </a:p>
        </p:txBody>
      </p:sp>
      <p:sp>
        <p:nvSpPr>
          <p:cNvPr id="12" name="Text 10"/>
          <p:cNvSpPr/>
          <p:nvPr/>
        </p:nvSpPr>
        <p:spPr>
          <a:xfrm>
            <a:off x="4663440" y="274320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Auto-detected categories, bulk editing, your own emoji tags</a:t>
            </a:r>
            <a:endParaRPr lang="en-US" sz="1150" dirty="0"/>
          </a:p>
        </p:txBody>
      </p:sp>
      <p:sp>
        <p:nvSpPr>
          <p:cNvPr id="13" name="Shape 11"/>
          <p:cNvSpPr/>
          <p:nvPr/>
        </p:nvSpPr>
        <p:spPr>
          <a:xfrm>
            <a:off x="8321040" y="1554480"/>
            <a:ext cx="3611880" cy="2331720"/>
          </a:xfrm>
          <a:prstGeom prst="rect">
            <a:avLst/>
          </a:prstGeom>
          <a:solidFill>
            <a:srgbClr val="F4F6F8"/>
          </a:solidFill>
          <a:ln/>
        </p:spPr>
      </p:sp>
      <p:sp>
        <p:nvSpPr>
          <p:cNvPr id="14" name="Shape 12"/>
          <p:cNvSpPr/>
          <p:nvPr/>
        </p:nvSpPr>
        <p:spPr>
          <a:xfrm>
            <a:off x="8321040" y="1554480"/>
            <a:ext cx="73152" cy="2331720"/>
          </a:xfrm>
          <a:prstGeom prst="rect">
            <a:avLst/>
          </a:prstGeom>
          <a:solidFill>
            <a:srgbClr val="1C7293"/>
          </a:solidFill>
          <a:ln/>
        </p:spPr>
      </p:sp>
      <p:sp>
        <p:nvSpPr>
          <p:cNvPr id="15" name="Text 13"/>
          <p:cNvSpPr/>
          <p:nvPr/>
        </p:nvSpPr>
        <p:spPr>
          <a:xfrm>
            <a:off x="8549640" y="171907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6" name="Text 14"/>
          <p:cNvSpPr/>
          <p:nvPr/>
        </p:nvSpPr>
        <p:spPr>
          <a:xfrm>
            <a:off x="8549640" y="228600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Status color-coding</a:t>
            </a:r>
            <a:endParaRPr lang="en-US" sz="1500" dirty="0"/>
          </a:p>
        </p:txBody>
      </p:sp>
      <p:sp>
        <p:nvSpPr>
          <p:cNvPr id="17" name="Text 15"/>
          <p:cNvSpPr/>
          <p:nvPr/>
        </p:nvSpPr>
        <p:spPr>
          <a:xfrm>
            <a:off x="8549640" y="274320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Want to Go, Been There, Loved It, Skip It, Favourite — at a glance on the map</a:t>
            </a:r>
            <a:endParaRPr lang="en-US" sz="1150" dirty="0"/>
          </a:p>
        </p:txBody>
      </p:sp>
      <p:sp>
        <p:nvSpPr>
          <p:cNvPr id="18" name="Shape 16"/>
          <p:cNvSpPr/>
          <p:nvPr/>
        </p:nvSpPr>
        <p:spPr>
          <a:xfrm>
            <a:off x="548640" y="4160520"/>
            <a:ext cx="3611880" cy="2331720"/>
          </a:xfrm>
          <a:prstGeom prst="rect">
            <a:avLst/>
          </a:prstGeom>
          <a:solidFill>
            <a:srgbClr val="F4F6F8"/>
          </a:solidFill>
          <a:ln/>
        </p:spPr>
      </p:sp>
      <p:sp>
        <p:nvSpPr>
          <p:cNvPr id="19" name="Shape 17"/>
          <p:cNvSpPr/>
          <p:nvPr/>
        </p:nvSpPr>
        <p:spPr>
          <a:xfrm>
            <a:off x="548640" y="4160520"/>
            <a:ext cx="73152" cy="2331720"/>
          </a:xfrm>
          <a:prstGeom prst="rect">
            <a:avLst/>
          </a:prstGeom>
          <a:solidFill>
            <a:srgbClr val="1C7293"/>
          </a:solidFill>
          <a:ln/>
        </p:spPr>
      </p:sp>
      <p:sp>
        <p:nvSpPr>
          <p:cNvPr id="20" name="Text 18"/>
          <p:cNvSpPr/>
          <p:nvPr/>
        </p:nvSpPr>
        <p:spPr>
          <a:xfrm>
            <a:off x="777240" y="432511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1" name="Text 19"/>
          <p:cNvSpPr/>
          <p:nvPr/>
        </p:nvSpPr>
        <p:spPr>
          <a:xfrm>
            <a:off x="777240" y="489204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Trip planner</a:t>
            </a:r>
            <a:endParaRPr lang="en-US" sz="1500" dirty="0"/>
          </a:p>
        </p:txBody>
      </p:sp>
      <p:sp>
        <p:nvSpPr>
          <p:cNvPr id="22" name="Text 20"/>
          <p:cNvSpPr/>
          <p:nvPr/>
        </p:nvSpPr>
        <p:spPr>
          <a:xfrm>
            <a:off x="777240" y="534924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Turn any folder into a day-by-day walking or driving itinerary</a:t>
            </a:r>
            <a:endParaRPr lang="en-US" sz="1150" dirty="0"/>
          </a:p>
        </p:txBody>
      </p:sp>
      <p:sp>
        <p:nvSpPr>
          <p:cNvPr id="23" name="Shape 21"/>
          <p:cNvSpPr/>
          <p:nvPr/>
        </p:nvSpPr>
        <p:spPr>
          <a:xfrm>
            <a:off x="4434840" y="4160520"/>
            <a:ext cx="3611880" cy="2331720"/>
          </a:xfrm>
          <a:prstGeom prst="rect">
            <a:avLst/>
          </a:prstGeom>
          <a:solidFill>
            <a:srgbClr val="F4F6F8"/>
          </a:solidFill>
          <a:ln/>
        </p:spPr>
      </p:sp>
      <p:sp>
        <p:nvSpPr>
          <p:cNvPr id="24" name="Shape 22"/>
          <p:cNvSpPr/>
          <p:nvPr/>
        </p:nvSpPr>
        <p:spPr>
          <a:xfrm>
            <a:off x="4434840" y="4160520"/>
            <a:ext cx="73152" cy="2331720"/>
          </a:xfrm>
          <a:prstGeom prst="rect">
            <a:avLst/>
          </a:prstGeom>
          <a:solidFill>
            <a:srgbClr val="1C7293"/>
          </a:solidFill>
          <a:ln/>
        </p:spPr>
      </p:sp>
      <p:sp>
        <p:nvSpPr>
          <p:cNvPr id="25" name="Text 23"/>
          <p:cNvSpPr/>
          <p:nvPr/>
        </p:nvSpPr>
        <p:spPr>
          <a:xfrm>
            <a:off x="4663440" y="432511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6" name="Text 24"/>
          <p:cNvSpPr/>
          <p:nvPr/>
        </p:nvSpPr>
        <p:spPr>
          <a:xfrm>
            <a:off x="4663440" y="489204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Mobile-first redesign</a:t>
            </a:r>
            <a:endParaRPr lang="en-US" sz="1500" dirty="0"/>
          </a:p>
        </p:txBody>
      </p:sp>
      <p:sp>
        <p:nvSpPr>
          <p:cNvPr id="27" name="Text 25"/>
          <p:cNvSpPr/>
          <p:nvPr/>
        </p:nvSpPr>
        <p:spPr>
          <a:xfrm>
            <a:off x="4663440" y="534924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Bottom sheets, accordions, dark/light themes, installable as a home-screen app</a:t>
            </a:r>
            <a:endParaRPr lang="en-US" sz="1150" dirty="0"/>
          </a:p>
        </p:txBody>
      </p:sp>
      <p:sp>
        <p:nvSpPr>
          <p:cNvPr id="28" name="Shape 26"/>
          <p:cNvSpPr/>
          <p:nvPr/>
        </p:nvSpPr>
        <p:spPr>
          <a:xfrm>
            <a:off x="8321040" y="4160520"/>
            <a:ext cx="3611880" cy="2331720"/>
          </a:xfrm>
          <a:prstGeom prst="rect">
            <a:avLst/>
          </a:prstGeom>
          <a:solidFill>
            <a:srgbClr val="F4F6F8"/>
          </a:solidFill>
          <a:ln/>
        </p:spPr>
      </p:sp>
      <p:sp>
        <p:nvSpPr>
          <p:cNvPr id="29" name="Shape 27"/>
          <p:cNvSpPr/>
          <p:nvPr/>
        </p:nvSpPr>
        <p:spPr>
          <a:xfrm>
            <a:off x="8321040" y="4160520"/>
            <a:ext cx="73152" cy="2331720"/>
          </a:xfrm>
          <a:prstGeom prst="rect">
            <a:avLst/>
          </a:prstGeom>
          <a:solidFill>
            <a:srgbClr val="1C7293"/>
          </a:solidFill>
          <a:ln/>
        </p:spPr>
      </p:sp>
      <p:sp>
        <p:nvSpPr>
          <p:cNvPr id="30" name="Text 28"/>
          <p:cNvSpPr/>
          <p:nvPr/>
        </p:nvSpPr>
        <p:spPr>
          <a:xfrm>
            <a:off x="8549640" y="4325112"/>
            <a:ext cx="73152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31" name="Text 29"/>
          <p:cNvSpPr/>
          <p:nvPr/>
        </p:nvSpPr>
        <p:spPr>
          <a:xfrm>
            <a:off x="8549640" y="4892040"/>
            <a:ext cx="3154680" cy="457200"/>
          </a:xfrm>
          <a:prstGeom prst="rect">
            <a:avLst/>
          </a:prstGeom>
          <a:noFill/>
          <a:ln/>
        </p:spPr>
        <p:txBody>
          <a:bodyPr wrap="square" lIns="0" tIns="0" rIns="0" bIns="0" rtlCol="0" anchor="ctr"/>
          <a:lstStyle/>
          <a:p>
            <a:pPr indent="0" marL="0">
              <a:buNone/>
            </a:pPr>
            <a:r>
              <a:rPr lang="en-US" sz="1500" b="1" dirty="0">
                <a:solidFill>
                  <a:srgbClr val="14213D"/>
                </a:solidFill>
                <a:latin typeface="Trebuchet MS" pitchFamily="34" charset="0"/>
                <a:ea typeface="Trebuchet MS" pitchFamily="34" charset="-122"/>
                <a:cs typeface="Trebuchet MS" pitchFamily="34" charset="-120"/>
              </a:rPr>
              <a:t>Backup, restore &amp; sharing</a:t>
            </a:r>
            <a:endParaRPr lang="en-US" sz="1500" dirty="0"/>
          </a:p>
        </p:txBody>
      </p:sp>
      <p:sp>
        <p:nvSpPr>
          <p:cNvPr id="32" name="Text 30"/>
          <p:cNvSpPr/>
          <p:nvPr/>
        </p:nvSpPr>
        <p:spPr>
          <a:xfrm>
            <a:off x="8549640" y="5349240"/>
            <a:ext cx="3154680" cy="1005840"/>
          </a:xfrm>
          <a:prstGeom prst="rect">
            <a:avLst/>
          </a:prstGeom>
          <a:noFill/>
          <a:ln/>
        </p:spPr>
        <p:txBody>
          <a:bodyPr wrap="square" lIns="0" tIns="0" rIns="0" bIns="0" rtlCol="0" anchor="ctr"/>
          <a:lstStyle/>
          <a:p>
            <a:pPr indent="0" marL="0">
              <a:lnSpc>
                <a:spcPct val="110000"/>
              </a:lnSpc>
              <a:buNone/>
            </a:pPr>
            <a:r>
              <a:rPr lang="en-US" sz="1150" dirty="0">
                <a:solidFill>
                  <a:srgbClr val="5A6B7A"/>
                </a:solidFill>
                <a:latin typeface="Calibri" pitchFamily="34" charset="0"/>
                <a:ea typeface="Calibri" pitchFamily="34" charset="-122"/>
                <a:cs typeface="Calibri" pitchFamily="34" charset="-120"/>
              </a:rPr>
              <a:t>Export your whole collection or a single folder as a file — no account needed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 quick look</a:t>
            </a:r>
            <a:endParaRPr lang="en-US" sz="3200" dirty="0"/>
          </a:p>
        </p:txBody>
      </p:sp>
      <p:pic>
        <p:nvPicPr>
          <p:cNvPr id="3" name="Image 0" descr="shots/trip-planner.png">    </p:cNvPr>
          <p:cNvPicPr>
            <a:picLocks noChangeAspect="1"/>
          </p:cNvPicPr>
          <p:nvPr/>
        </p:nvPicPr>
        <p:blipFill>
          <a:blip r:embed="rId1"/>
          <a:srcRect l="0" r="0" t="0" b="0"/>
          <a:stretch/>
        </p:blipFill>
        <p:spPr>
          <a:xfrm>
            <a:off x="548640" y="1280160"/>
            <a:ext cx="5486400" cy="3429000"/>
          </a:xfrm>
          <a:prstGeom prst="rect">
            <a:avLst/>
          </a:prstGeom>
          <a:effectLst>
            <a:outerShdw sx="100000" sy="100000" kx="0" ky="0" algn="bl" rotWithShape="0" blurRad="127000" dist="50800" dir="8100000">
              <a:srgbClr val="000000">
                <a:alpha val="35000"/>
              </a:srgbClr>
            </a:outerShdw>
          </a:effectLst>
        </p:spPr>
      </p:pic>
      <p:sp>
        <p:nvSpPr>
          <p:cNvPr id="4" name="Text 1"/>
          <p:cNvSpPr/>
          <p:nvPr/>
        </p:nvSpPr>
        <p:spPr>
          <a:xfrm>
            <a:off x="548640" y="4800600"/>
            <a:ext cx="5486400" cy="457200"/>
          </a:xfrm>
          <a:prstGeom prst="rect">
            <a:avLst/>
          </a:prstGeom>
          <a:noFill/>
          <a:ln/>
        </p:spPr>
        <p:txBody>
          <a:bodyPr wrap="square" lIns="0" tIns="0" rIns="0" bIns="0" rtlCol="0" anchor="ctr"/>
          <a:lstStyle/>
          <a:p>
            <a:pPr indent="0" marL="0">
              <a:buNone/>
            </a:pPr>
            <a:r>
              <a:rPr lang="en-US" sz="1300" dirty="0">
                <a:solidFill>
                  <a:srgbClr val="FFDE59"/>
                </a:solidFill>
                <a:latin typeface="Calibri" pitchFamily="34" charset="0"/>
                <a:ea typeface="Calibri" pitchFamily="34" charset="-122"/>
                <a:cs typeface="Calibri" pitchFamily="34" charset="-120"/>
              </a:rPr>
              <a:t>Trip planner: pick a folder, statuses &amp; days → get a route</a:t>
            </a:r>
            <a:endParaRPr lang="en-US" sz="1300" dirty="0"/>
          </a:p>
        </p:txBody>
      </p:sp>
      <p:pic>
        <p:nvPicPr>
          <p:cNvPr id="5" name="Image 1" descr="shots/mobile-main.png">    </p:cNvPr>
          <p:cNvPicPr>
            <a:picLocks noChangeAspect="1"/>
          </p:cNvPicPr>
          <p:nvPr/>
        </p:nvPicPr>
        <p:blipFill>
          <a:blip r:embed="rId2"/>
          <a:srcRect l="0" r="0" t="0" b="0"/>
          <a:stretch/>
        </p:blipFill>
        <p:spPr>
          <a:xfrm>
            <a:off x="6492240" y="914400"/>
            <a:ext cx="2197160" cy="4754880"/>
          </a:xfrm>
          <a:prstGeom prst="rect">
            <a:avLst/>
          </a:prstGeom>
          <a:effectLst>
            <a:outerShdw sx="100000" sy="100000" kx="0" ky="0" algn="bl" rotWithShape="0" blurRad="127000" dist="50800" dir="8100000">
              <a:srgbClr val="000000">
                <a:alpha val="35000"/>
              </a:srgbClr>
            </a:outerShdw>
          </a:effectLst>
        </p:spPr>
      </p:pic>
      <p:sp>
        <p:nvSpPr>
          <p:cNvPr id="6" name="Text 2"/>
          <p:cNvSpPr/>
          <p:nvPr/>
        </p:nvSpPr>
        <p:spPr>
          <a:xfrm>
            <a:off x="6492240" y="5760720"/>
            <a:ext cx="2654360" cy="457200"/>
          </a:xfrm>
          <a:prstGeom prst="rect">
            <a:avLst/>
          </a:prstGeom>
          <a:noFill/>
          <a:ln/>
        </p:spPr>
        <p:txBody>
          <a:bodyPr wrap="square" lIns="0" tIns="0" rIns="0" bIns="0" rtlCol="0" anchor="ctr"/>
          <a:lstStyle/>
          <a:p>
            <a:pPr indent="0" marL="0">
              <a:buNone/>
            </a:pPr>
            <a:r>
              <a:rPr lang="en-US" sz="1300" dirty="0">
                <a:solidFill>
                  <a:srgbClr val="FFDE59"/>
                </a:solidFill>
                <a:latin typeface="Calibri" pitchFamily="34" charset="0"/>
                <a:ea typeface="Calibri" pitchFamily="34" charset="-122"/>
                <a:cs typeface="Calibri" pitchFamily="34" charset="-120"/>
              </a:rPr>
              <a:t>Mobile-first layout, installable to your home screen</a:t>
            </a:r>
            <a:endParaRPr lang="en-US" sz="1300" dirty="0"/>
          </a:p>
        </p:txBody>
      </p:sp>
      <p:pic>
        <p:nvPicPr>
          <p:cNvPr id="7" name="Image 2" descr="shots/help-modal.png">    </p:cNvPr>
          <p:cNvPicPr>
            <a:picLocks noChangeAspect="1"/>
          </p:cNvPicPr>
          <p:nvPr/>
        </p:nvPicPr>
        <p:blipFill>
          <a:blip r:embed="rId3"/>
          <a:srcRect l="0" r="0" t="0" b="0"/>
          <a:stretch/>
        </p:blipFill>
        <p:spPr>
          <a:xfrm>
            <a:off x="9098280" y="914400"/>
            <a:ext cx="2743200" cy="1714500"/>
          </a:xfrm>
          <a:prstGeom prst="rect">
            <a:avLst/>
          </a:prstGeom>
          <a:effectLst>
            <a:outerShdw sx="100000" sy="100000" kx="0" ky="0" algn="bl" rotWithShape="0" blurRad="101600" dist="38100" dir="8100000">
              <a:srgbClr val="000000">
                <a:alpha val="35000"/>
              </a:srgbClr>
            </a:outerShdw>
          </a:effectLst>
        </p:spPr>
      </p:pic>
      <p:sp>
        <p:nvSpPr>
          <p:cNvPr id="8" name="Text 3"/>
          <p:cNvSpPr/>
          <p:nvPr/>
        </p:nvSpPr>
        <p:spPr>
          <a:xfrm>
            <a:off x="9098280" y="2743200"/>
            <a:ext cx="2743200" cy="365760"/>
          </a:xfrm>
          <a:prstGeom prst="rect">
            <a:avLst/>
          </a:prstGeom>
          <a:noFill/>
          <a:ln/>
        </p:spPr>
        <p:txBody>
          <a:bodyPr wrap="square" lIns="0" tIns="0" rIns="0" bIns="0" rtlCol="0" anchor="ctr"/>
          <a:lstStyle/>
          <a:p>
            <a:pPr indent="0" marL="0">
              <a:buNone/>
            </a:pPr>
            <a:r>
              <a:rPr lang="en-US" sz="1300" dirty="0">
                <a:solidFill>
                  <a:srgbClr val="FFDE59"/>
                </a:solidFill>
                <a:latin typeface="Calibri" pitchFamily="34" charset="0"/>
                <a:ea typeface="Calibri" pitchFamily="34" charset="-122"/>
                <a:cs typeface="Calibri" pitchFamily="34" charset="-120"/>
              </a:rPr>
              <a:t>Built-in step-by-step help guide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What surprised me</a:t>
            </a:r>
            <a:endParaRPr lang="en-US" sz="3200" dirty="0"/>
          </a:p>
        </p:txBody>
      </p:sp>
      <p:sp>
        <p:nvSpPr>
          <p:cNvPr id="3" name="Shape 1"/>
          <p:cNvSpPr/>
          <p:nvPr/>
        </p:nvSpPr>
        <p:spPr>
          <a:xfrm>
            <a:off x="640080" y="1554480"/>
            <a:ext cx="822960" cy="822960"/>
          </a:xfrm>
          <a:prstGeom prst="ellipse">
            <a:avLst/>
          </a:prstGeom>
          <a:solidFill>
            <a:srgbClr val="1C7293"/>
          </a:solidFill>
          <a:ln/>
        </p:spPr>
      </p:sp>
      <p:sp>
        <p:nvSpPr>
          <p:cNvPr id="4" name="Text 2"/>
          <p:cNvSpPr/>
          <p:nvPr/>
        </p:nvSpPr>
        <p:spPr>
          <a:xfrm>
            <a:off x="640080" y="1554480"/>
            <a:ext cx="822960" cy="8229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5" name="Text 3"/>
          <p:cNvSpPr/>
          <p:nvPr/>
        </p:nvSpPr>
        <p:spPr>
          <a:xfrm>
            <a:off x="1691640" y="1508760"/>
            <a:ext cx="9601200" cy="457200"/>
          </a:xfrm>
          <a:prstGeom prst="rect">
            <a:avLst/>
          </a:prstGeom>
          <a:noFill/>
          <a:ln/>
        </p:spPr>
        <p:txBody>
          <a:bodyPr wrap="square" lIns="0" tIns="0" rIns="0" bIns="0" rtlCol="0" anchor="ctr"/>
          <a:lstStyle/>
          <a:p>
            <a:pPr indent="0" marL="0">
              <a:buNone/>
            </a:pPr>
            <a:r>
              <a:rPr lang="en-US" sz="1800" b="1" dirty="0">
                <a:solidFill>
                  <a:srgbClr val="14213D"/>
                </a:solidFill>
                <a:latin typeface="Trebuchet MS" pitchFamily="34" charset="0"/>
                <a:ea typeface="Trebuchet MS" pitchFamily="34" charset="-122"/>
                <a:cs typeface="Trebuchet MS" pitchFamily="34" charset="-120"/>
              </a:rPr>
              <a:t>Google's own export formats are a mess</a:t>
            </a:r>
            <a:endParaRPr lang="en-US" sz="1800" dirty="0"/>
          </a:p>
        </p:txBody>
      </p:sp>
      <p:sp>
        <p:nvSpPr>
          <p:cNvPr id="6" name="Text 4"/>
          <p:cNvSpPr/>
          <p:nvPr/>
        </p:nvSpPr>
        <p:spPr>
          <a:xfrm>
            <a:off x="1691640" y="1965960"/>
            <a:ext cx="9601200" cy="640080"/>
          </a:xfrm>
          <a:prstGeom prst="rect">
            <a:avLst/>
          </a:prstGeom>
          <a:noFill/>
          <a:ln/>
        </p:spPr>
        <p:txBody>
          <a:bodyPr wrap="square" lIns="0" tIns="0" rIns="0" bIns="0" rtlCol="0" anchor="ctr"/>
          <a:lstStyle/>
          <a:p>
            <a:pPr indent="0" marL="0">
              <a:lnSpc>
                <a:spcPct val="115000"/>
              </a:lnSpc>
              <a:buNone/>
            </a:pPr>
            <a:r>
              <a:rPr lang="en-US" sz="1450" dirty="0">
                <a:solidFill>
                  <a:srgbClr val="1E1E1E"/>
                </a:solidFill>
                <a:latin typeface="Calibri" pitchFamily="34" charset="0"/>
                <a:ea typeface="Calibri" pitchFamily="34" charset="-122"/>
                <a:cs typeface="Calibri" pitchFamily="34" charset="-120"/>
              </a:rPr>
              <a:t>Saved places come out differently depending on whether you use Takeout JSON, CSV, or KML — I ended up supporting all of them.</a:t>
            </a:r>
            <a:endParaRPr lang="en-US" sz="1450" dirty="0"/>
          </a:p>
        </p:txBody>
      </p:sp>
      <p:sp>
        <p:nvSpPr>
          <p:cNvPr id="7" name="Shape 5"/>
          <p:cNvSpPr/>
          <p:nvPr/>
        </p:nvSpPr>
        <p:spPr>
          <a:xfrm>
            <a:off x="640080" y="3063240"/>
            <a:ext cx="822960" cy="822960"/>
          </a:xfrm>
          <a:prstGeom prst="ellipse">
            <a:avLst/>
          </a:prstGeom>
          <a:solidFill>
            <a:srgbClr val="1C7293"/>
          </a:solidFill>
          <a:ln/>
        </p:spPr>
      </p:sp>
      <p:sp>
        <p:nvSpPr>
          <p:cNvPr id="8" name="Text 6"/>
          <p:cNvSpPr/>
          <p:nvPr/>
        </p:nvSpPr>
        <p:spPr>
          <a:xfrm>
            <a:off x="640080" y="3063240"/>
            <a:ext cx="822960" cy="8229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1691640" y="3017520"/>
            <a:ext cx="9601200" cy="457200"/>
          </a:xfrm>
          <a:prstGeom prst="rect">
            <a:avLst/>
          </a:prstGeom>
          <a:noFill/>
          <a:ln/>
        </p:spPr>
        <p:txBody>
          <a:bodyPr wrap="square" lIns="0" tIns="0" rIns="0" bIns="0" rtlCol="0" anchor="ctr"/>
          <a:lstStyle/>
          <a:p>
            <a:pPr indent="0" marL="0">
              <a:buNone/>
            </a:pPr>
            <a:r>
              <a:rPr lang="en-US" sz="1800" b="1" dirty="0">
                <a:solidFill>
                  <a:srgbClr val="14213D"/>
                </a:solidFill>
                <a:latin typeface="Trebuchet MS" pitchFamily="34" charset="0"/>
                <a:ea typeface="Trebuchet MS" pitchFamily="34" charset="-122"/>
                <a:cs typeface="Trebuchet MS" pitchFamily="34" charset="-120"/>
              </a:rPr>
              <a:t>"Small" UI fixes are never small</a:t>
            </a:r>
            <a:endParaRPr lang="en-US" sz="1800" dirty="0"/>
          </a:p>
        </p:txBody>
      </p:sp>
      <p:sp>
        <p:nvSpPr>
          <p:cNvPr id="10" name="Text 8"/>
          <p:cNvSpPr/>
          <p:nvPr/>
        </p:nvSpPr>
        <p:spPr>
          <a:xfrm>
            <a:off x="1691640" y="3474720"/>
            <a:ext cx="9601200" cy="640080"/>
          </a:xfrm>
          <a:prstGeom prst="rect">
            <a:avLst/>
          </a:prstGeom>
          <a:noFill/>
          <a:ln/>
        </p:spPr>
        <p:txBody>
          <a:bodyPr wrap="square" lIns="0" tIns="0" rIns="0" bIns="0" rtlCol="0" anchor="ctr"/>
          <a:lstStyle/>
          <a:p>
            <a:pPr indent="0" marL="0">
              <a:lnSpc>
                <a:spcPct val="115000"/>
              </a:lnSpc>
              <a:buNone/>
            </a:pPr>
            <a:r>
              <a:rPr lang="en-US" sz="1450" dirty="0">
                <a:solidFill>
                  <a:srgbClr val="1E1E1E"/>
                </a:solidFill>
                <a:latin typeface="Calibri" pitchFamily="34" charset="0"/>
                <a:ea typeface="Calibri" pitchFamily="34" charset="-122"/>
                <a:cs typeface="Calibri" pitchFamily="34" charset="-120"/>
              </a:rPr>
              <a:t>A folder menu took 5 separate commits to get right across mobile and desktop — clipping, z-index, overlap, one after another.</a:t>
            </a:r>
            <a:endParaRPr lang="en-US" sz="1450" dirty="0"/>
          </a:p>
        </p:txBody>
      </p:sp>
      <p:sp>
        <p:nvSpPr>
          <p:cNvPr id="11" name="Shape 9"/>
          <p:cNvSpPr/>
          <p:nvPr/>
        </p:nvSpPr>
        <p:spPr>
          <a:xfrm>
            <a:off x="640080" y="4572000"/>
            <a:ext cx="822960" cy="822960"/>
          </a:xfrm>
          <a:prstGeom prst="ellipse">
            <a:avLst/>
          </a:prstGeom>
          <a:solidFill>
            <a:srgbClr val="1C7293"/>
          </a:solidFill>
          <a:ln/>
        </p:spPr>
      </p:sp>
      <p:sp>
        <p:nvSpPr>
          <p:cNvPr id="12" name="Text 10"/>
          <p:cNvSpPr/>
          <p:nvPr/>
        </p:nvSpPr>
        <p:spPr>
          <a:xfrm>
            <a:off x="640080" y="4572000"/>
            <a:ext cx="822960" cy="8229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1691640" y="4526280"/>
            <a:ext cx="9601200" cy="457200"/>
          </a:xfrm>
          <a:prstGeom prst="rect">
            <a:avLst/>
          </a:prstGeom>
          <a:noFill/>
          <a:ln/>
        </p:spPr>
        <p:txBody>
          <a:bodyPr wrap="square" lIns="0" tIns="0" rIns="0" bIns="0" rtlCol="0" anchor="ctr"/>
          <a:lstStyle/>
          <a:p>
            <a:pPr indent="0" marL="0">
              <a:buNone/>
            </a:pPr>
            <a:r>
              <a:rPr lang="en-US" sz="1800" b="1" dirty="0">
                <a:solidFill>
                  <a:srgbClr val="14213D"/>
                </a:solidFill>
                <a:latin typeface="Trebuchet MS" pitchFamily="34" charset="0"/>
                <a:ea typeface="Trebuchet MS" pitchFamily="34" charset="-122"/>
                <a:cs typeface="Trebuchet MS" pitchFamily="34" charset="-120"/>
              </a:rPr>
              <a:t>How far plain HTML/CSS/JS gets you</a:t>
            </a:r>
            <a:endParaRPr lang="en-US" sz="1800" dirty="0"/>
          </a:p>
        </p:txBody>
      </p:sp>
      <p:sp>
        <p:nvSpPr>
          <p:cNvPr id="14" name="Text 12"/>
          <p:cNvSpPr/>
          <p:nvPr/>
        </p:nvSpPr>
        <p:spPr>
          <a:xfrm>
            <a:off x="1691640" y="4983480"/>
            <a:ext cx="9601200" cy="640080"/>
          </a:xfrm>
          <a:prstGeom prst="rect">
            <a:avLst/>
          </a:prstGeom>
          <a:noFill/>
          <a:ln/>
        </p:spPr>
        <p:txBody>
          <a:bodyPr wrap="square" lIns="0" tIns="0" rIns="0" bIns="0" rtlCol="0" anchor="ctr"/>
          <a:lstStyle/>
          <a:p>
            <a:pPr indent="0" marL="0">
              <a:lnSpc>
                <a:spcPct val="115000"/>
              </a:lnSpc>
              <a:buNone/>
            </a:pPr>
            <a:r>
              <a:rPr lang="en-US" sz="1450" dirty="0">
                <a:solidFill>
                  <a:srgbClr val="1E1E1E"/>
                </a:solidFill>
                <a:latin typeface="Calibri" pitchFamily="34" charset="0"/>
                <a:ea typeface="Calibri" pitchFamily="34" charset="-122"/>
                <a:cs typeface="Calibri" pitchFamily="34" charset="-120"/>
              </a:rPr>
              <a:t>No framework, no build step — just a couple of CDN libraries (Leaflet, JSZip) — and it still feels like a real app.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Challenges along the way</a:t>
            </a:r>
            <a:endParaRPr lang="en-US" sz="3200" dirty="0"/>
          </a:p>
        </p:txBody>
      </p:sp>
      <p:sp>
        <p:nvSpPr>
          <p:cNvPr id="3" name="Shape 1"/>
          <p:cNvSpPr/>
          <p:nvPr/>
        </p:nvSpPr>
        <p:spPr>
          <a:xfrm>
            <a:off x="548640" y="1463040"/>
            <a:ext cx="5486400" cy="4572000"/>
          </a:xfrm>
          <a:prstGeom prst="rect">
            <a:avLst/>
          </a:prstGeom>
          <a:solidFill>
            <a:srgbClr val="F4F6F8"/>
          </a:solidFill>
          <a:ln/>
        </p:spPr>
      </p:sp>
      <p:sp>
        <p:nvSpPr>
          <p:cNvPr id="4" name="Shape 2"/>
          <p:cNvSpPr/>
          <p:nvPr/>
        </p:nvSpPr>
        <p:spPr>
          <a:xfrm>
            <a:off x="6217920" y="1463040"/>
            <a:ext cx="5486400" cy="4572000"/>
          </a:xfrm>
          <a:prstGeom prst="rect">
            <a:avLst/>
          </a:prstGeom>
          <a:solidFill>
            <a:srgbClr val="F4F6F8"/>
          </a:solidFill>
          <a:ln/>
        </p:spPr>
      </p:sp>
      <p:sp>
        <p:nvSpPr>
          <p:cNvPr id="5" name="Text 3"/>
          <p:cNvSpPr/>
          <p:nvPr/>
        </p:nvSpPr>
        <p:spPr>
          <a:xfrm>
            <a:off x="822960" y="1691640"/>
            <a:ext cx="4937760" cy="457200"/>
          </a:xfrm>
          <a:prstGeom prst="rect">
            <a:avLst/>
          </a:prstGeom>
          <a:noFill/>
          <a:ln/>
        </p:spPr>
        <p:txBody>
          <a:bodyPr wrap="square" lIns="0" tIns="0" rIns="0" bIns="0" rtlCol="0" anchor="ctr"/>
          <a:lstStyle/>
          <a:p>
            <a:pPr indent="0" marL="0">
              <a:buNone/>
            </a:pPr>
            <a:r>
              <a:rPr lang="en-US" sz="1600" b="1" dirty="0">
                <a:solidFill>
                  <a:srgbClr val="1C7293"/>
                </a:solidFill>
                <a:latin typeface="Trebuchet MS" pitchFamily="34" charset="0"/>
                <a:ea typeface="Trebuchet MS" pitchFamily="34" charset="-122"/>
                <a:cs typeface="Trebuchet MS" pitchFamily="34" charset="-120"/>
              </a:rPr>
              <a:t>UI / UX</a:t>
            </a:r>
            <a:endParaRPr lang="en-US" sz="1600" dirty="0"/>
          </a:p>
        </p:txBody>
      </p:sp>
      <p:sp>
        <p:nvSpPr>
          <p:cNvPr id="6" name="Text 4"/>
          <p:cNvSpPr/>
          <p:nvPr/>
        </p:nvSpPr>
        <p:spPr>
          <a:xfrm>
            <a:off x="822960" y="2194560"/>
            <a:ext cx="4937760" cy="347472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Geocoding places that have no coordinates in the import file</a:t>
            </a:r>
            <a:endParaRPr lang="en-US" sz="1500" dirty="0"/>
          </a:p>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Mobile layout edge cases — accordions, clipped menus, z-index fights with map controls</a:t>
            </a:r>
            <a:endParaRPr lang="en-US" sz="1500" dirty="0"/>
          </a:p>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Designing a categorization system flexible enough for anyone's “saved places” chaos</a:t>
            </a:r>
            <a:endParaRPr lang="en-US" sz="1500" dirty="0"/>
          </a:p>
        </p:txBody>
      </p:sp>
      <p:sp>
        <p:nvSpPr>
          <p:cNvPr id="7" name="Text 5"/>
          <p:cNvSpPr/>
          <p:nvPr/>
        </p:nvSpPr>
        <p:spPr>
          <a:xfrm>
            <a:off x="6492240" y="1691640"/>
            <a:ext cx="4937760" cy="457200"/>
          </a:xfrm>
          <a:prstGeom prst="rect">
            <a:avLst/>
          </a:prstGeom>
          <a:noFill/>
          <a:ln/>
        </p:spPr>
        <p:txBody>
          <a:bodyPr wrap="square" lIns="0" tIns="0" rIns="0" bIns="0" rtlCol="0" anchor="ctr"/>
          <a:lstStyle/>
          <a:p>
            <a:pPr indent="0" marL="0">
              <a:buNone/>
            </a:pPr>
            <a:r>
              <a:rPr lang="en-US" sz="1600" b="1" dirty="0">
                <a:solidFill>
                  <a:srgbClr val="1C7293"/>
                </a:solidFill>
                <a:latin typeface="Trebuchet MS" pitchFamily="34" charset="0"/>
                <a:ea typeface="Trebuchet MS" pitchFamily="34" charset="-122"/>
                <a:cs typeface="Trebuchet MS" pitchFamily="34" charset="-120"/>
              </a:rPr>
              <a:t>Data &amp; architecture</a:t>
            </a:r>
            <a:endParaRPr lang="en-US" sz="1600" dirty="0"/>
          </a:p>
        </p:txBody>
      </p:sp>
      <p:sp>
        <p:nvSpPr>
          <p:cNvPr id="8" name="Text 6"/>
          <p:cNvSpPr/>
          <p:nvPr/>
        </p:nvSpPr>
        <p:spPr>
          <a:xfrm>
            <a:off x="6492240" y="2194560"/>
            <a:ext cx="4937760" cy="347472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Cross-device sync without a server — solved with export/import + merge</a:t>
            </a:r>
            <a:endParaRPr lang="en-US" sz="1500" dirty="0"/>
          </a:p>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Handling 4+ different import formats reliably (JSON, CSV, KML/KMZ)</a:t>
            </a:r>
            <a:endParaRPr lang="en-US" sz="1500" dirty="0"/>
          </a:p>
          <a:p>
            <a:pPr marL="228600" indent="-228600">
              <a:lnSpc>
                <a:spcPct val="115000"/>
              </a:lnSpc>
              <a:spcAft>
                <a:spcPts val="1200"/>
              </a:spcAft>
              <a:buSzPct val="100000"/>
              <a:buChar char="•"/>
            </a:pPr>
            <a:r>
              <a:rPr lang="en-US" sz="1500" dirty="0">
                <a:solidFill>
                  <a:srgbClr val="1E1E1E"/>
                </a:solidFill>
                <a:latin typeface="Calibri" pitchFamily="34" charset="0"/>
                <a:ea typeface="Calibri" pitchFamily="34" charset="-122"/>
                <a:cs typeface="Calibri" pitchFamily="34" charset="-120"/>
              </a:rPr>
              <a:t>Keeping a single 5,700-line app maintainable while iterating fast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lessons &amp; insights</a:t>
            </a:r>
            <a:endParaRPr lang="en-US" sz="3200" dirty="0"/>
          </a:p>
        </p:txBody>
      </p:sp>
      <p:sp>
        <p:nvSpPr>
          <p:cNvPr id="3" name="Shape 1"/>
          <p:cNvSpPr/>
          <p:nvPr/>
        </p:nvSpPr>
        <p:spPr>
          <a:xfrm>
            <a:off x="548640" y="1554480"/>
            <a:ext cx="5440680" cy="2194560"/>
          </a:xfrm>
          <a:prstGeom prst="rect">
            <a:avLst/>
          </a:prstGeom>
          <a:solidFill>
            <a:srgbClr val="1E3354"/>
          </a:solidFill>
          <a:ln/>
        </p:spPr>
      </p:sp>
      <p:sp>
        <p:nvSpPr>
          <p:cNvPr id="4" name="Shape 2"/>
          <p:cNvSpPr/>
          <p:nvPr/>
        </p:nvSpPr>
        <p:spPr>
          <a:xfrm>
            <a:off x="548640" y="1554480"/>
            <a:ext cx="5440680" cy="54864"/>
          </a:xfrm>
          <a:prstGeom prst="rect">
            <a:avLst/>
          </a:prstGeom>
          <a:solidFill>
            <a:srgbClr val="FFDE59"/>
          </a:solidFill>
          <a:ln/>
        </p:spPr>
      </p:sp>
      <p:sp>
        <p:nvSpPr>
          <p:cNvPr id="5" name="Text 3"/>
          <p:cNvSpPr/>
          <p:nvPr/>
        </p:nvSpPr>
        <p:spPr>
          <a:xfrm>
            <a:off x="822960" y="1783080"/>
            <a:ext cx="4892040" cy="548640"/>
          </a:xfrm>
          <a:prstGeom prst="rect">
            <a:avLst/>
          </a:prstGeom>
          <a:noFill/>
          <a:ln/>
        </p:spPr>
        <p:txBody>
          <a:bodyPr wrap="square" lIns="0" tIns="0" rIns="0" bIns="0" rtlCol="0" anchor="ctr"/>
          <a:lstStyle/>
          <a:p>
            <a:pPr indent="0" marL="0">
              <a:buNone/>
            </a:pPr>
            <a:r>
              <a:rPr lang="en-US" sz="1700" b="1" dirty="0">
                <a:solidFill>
                  <a:srgbClr val="FFDE59"/>
                </a:solidFill>
                <a:latin typeface="Trebuchet MS" pitchFamily="34" charset="0"/>
                <a:ea typeface="Trebuchet MS" pitchFamily="34" charset="-122"/>
                <a:cs typeface="Trebuchet MS" pitchFamily="34" charset="-120"/>
              </a:rPr>
              <a:t>Real data finds real bugs</a:t>
            </a:r>
            <a:endParaRPr lang="en-US" sz="1700" dirty="0"/>
          </a:p>
        </p:txBody>
      </p:sp>
      <p:sp>
        <p:nvSpPr>
          <p:cNvPr id="6" name="Text 4"/>
          <p:cNvSpPr/>
          <p:nvPr/>
        </p:nvSpPr>
        <p:spPr>
          <a:xfrm>
            <a:off x="822960" y="2331720"/>
            <a:ext cx="4892040" cy="1280160"/>
          </a:xfrm>
          <a:prstGeom prst="rect">
            <a:avLst/>
          </a:prstGeom>
          <a:noFill/>
          <a:ln/>
        </p:spPr>
        <p:txBody>
          <a:bodyPr wrap="square" lIns="0" tIns="0" rIns="0" bIns="0" rtlCol="0" anchor="ctr"/>
          <a:lstStyle/>
          <a:p>
            <a:pPr indent="0" marL="0">
              <a:lnSpc>
                <a:spcPct val="115000"/>
              </a:lnSpc>
              <a:buNone/>
            </a:pPr>
            <a:r>
              <a:rPr lang="en-US" sz="1350" dirty="0">
                <a:solidFill>
                  <a:srgbClr val="E4E9EF"/>
                </a:solidFill>
                <a:latin typeface="Calibri" pitchFamily="34" charset="0"/>
                <a:ea typeface="Calibri" pitchFamily="34" charset="-122"/>
                <a:cs typeface="Calibri" pitchFamily="34" charset="-120"/>
              </a:rPr>
              <a:t>Testing with my own (messy) saved places surfaced UI issues a clean test dataset never would have.</a:t>
            </a:r>
            <a:endParaRPr lang="en-US" sz="1350" dirty="0"/>
          </a:p>
        </p:txBody>
      </p:sp>
      <p:sp>
        <p:nvSpPr>
          <p:cNvPr id="7" name="Shape 5"/>
          <p:cNvSpPr/>
          <p:nvPr/>
        </p:nvSpPr>
        <p:spPr>
          <a:xfrm>
            <a:off x="6355080" y="1554480"/>
            <a:ext cx="5440680" cy="2194560"/>
          </a:xfrm>
          <a:prstGeom prst="rect">
            <a:avLst/>
          </a:prstGeom>
          <a:solidFill>
            <a:srgbClr val="1E3354"/>
          </a:solidFill>
          <a:ln/>
        </p:spPr>
      </p:sp>
      <p:sp>
        <p:nvSpPr>
          <p:cNvPr id="8" name="Shape 6"/>
          <p:cNvSpPr/>
          <p:nvPr/>
        </p:nvSpPr>
        <p:spPr>
          <a:xfrm>
            <a:off x="6355080" y="1554480"/>
            <a:ext cx="5440680" cy="54864"/>
          </a:xfrm>
          <a:prstGeom prst="rect">
            <a:avLst/>
          </a:prstGeom>
          <a:solidFill>
            <a:srgbClr val="FFDE59"/>
          </a:solidFill>
          <a:ln/>
        </p:spPr>
      </p:sp>
      <p:sp>
        <p:nvSpPr>
          <p:cNvPr id="9" name="Text 7"/>
          <p:cNvSpPr/>
          <p:nvPr/>
        </p:nvSpPr>
        <p:spPr>
          <a:xfrm>
            <a:off x="6629400" y="1783080"/>
            <a:ext cx="4892040" cy="548640"/>
          </a:xfrm>
          <a:prstGeom prst="rect">
            <a:avLst/>
          </a:prstGeom>
          <a:noFill/>
          <a:ln/>
        </p:spPr>
        <p:txBody>
          <a:bodyPr wrap="square" lIns="0" tIns="0" rIns="0" bIns="0" rtlCol="0" anchor="ctr"/>
          <a:lstStyle/>
          <a:p>
            <a:pPr indent="0" marL="0">
              <a:buNone/>
            </a:pPr>
            <a:r>
              <a:rPr lang="en-US" sz="1700" b="1" dirty="0">
                <a:solidFill>
                  <a:srgbClr val="FFDE59"/>
                </a:solidFill>
                <a:latin typeface="Trebuchet MS" pitchFamily="34" charset="0"/>
                <a:ea typeface="Trebuchet MS" pitchFamily="34" charset="-122"/>
                <a:cs typeface="Trebuchet MS" pitchFamily="34" charset="-120"/>
              </a:rPr>
              <a:t>Data ownership matters</a:t>
            </a:r>
            <a:endParaRPr lang="en-US" sz="1700" dirty="0"/>
          </a:p>
        </p:txBody>
      </p:sp>
      <p:sp>
        <p:nvSpPr>
          <p:cNvPr id="10" name="Text 8"/>
          <p:cNvSpPr/>
          <p:nvPr/>
        </p:nvSpPr>
        <p:spPr>
          <a:xfrm>
            <a:off x="6629400" y="2331720"/>
            <a:ext cx="4892040" cy="1280160"/>
          </a:xfrm>
          <a:prstGeom prst="rect">
            <a:avLst/>
          </a:prstGeom>
          <a:noFill/>
          <a:ln/>
        </p:spPr>
        <p:txBody>
          <a:bodyPr wrap="square" lIns="0" tIns="0" rIns="0" bIns="0" rtlCol="0" anchor="ctr"/>
          <a:lstStyle/>
          <a:p>
            <a:pPr indent="0" marL="0">
              <a:lnSpc>
                <a:spcPct val="115000"/>
              </a:lnSpc>
              <a:buNone/>
            </a:pPr>
            <a:r>
              <a:rPr lang="en-US" sz="1350" dirty="0">
                <a:solidFill>
                  <a:srgbClr val="E4E9EF"/>
                </a:solidFill>
                <a:latin typeface="Calibri" pitchFamily="34" charset="0"/>
                <a:ea typeface="Calibri" pitchFamily="34" charset="-122"/>
                <a:cs typeface="Calibri" pitchFamily="34" charset="-120"/>
              </a:rPr>
              <a:t>For a personal-data tool, investing early in import/export and “no account needed” paid off — it's also the easiest trust story to tell.</a:t>
            </a:r>
            <a:endParaRPr lang="en-US" sz="1350" dirty="0"/>
          </a:p>
        </p:txBody>
      </p:sp>
      <p:sp>
        <p:nvSpPr>
          <p:cNvPr id="11" name="Shape 9"/>
          <p:cNvSpPr/>
          <p:nvPr/>
        </p:nvSpPr>
        <p:spPr>
          <a:xfrm>
            <a:off x="548640" y="4114800"/>
            <a:ext cx="5440680" cy="2194560"/>
          </a:xfrm>
          <a:prstGeom prst="rect">
            <a:avLst/>
          </a:prstGeom>
          <a:solidFill>
            <a:srgbClr val="1E3354"/>
          </a:solidFill>
          <a:ln/>
        </p:spPr>
      </p:sp>
      <p:sp>
        <p:nvSpPr>
          <p:cNvPr id="12" name="Shape 10"/>
          <p:cNvSpPr/>
          <p:nvPr/>
        </p:nvSpPr>
        <p:spPr>
          <a:xfrm>
            <a:off x="548640" y="4114800"/>
            <a:ext cx="5440680" cy="54864"/>
          </a:xfrm>
          <a:prstGeom prst="rect">
            <a:avLst/>
          </a:prstGeom>
          <a:solidFill>
            <a:srgbClr val="FFDE59"/>
          </a:solidFill>
          <a:ln/>
        </p:spPr>
      </p:sp>
      <p:sp>
        <p:nvSpPr>
          <p:cNvPr id="13" name="Text 11"/>
          <p:cNvSpPr/>
          <p:nvPr/>
        </p:nvSpPr>
        <p:spPr>
          <a:xfrm>
            <a:off x="822960" y="4343400"/>
            <a:ext cx="4892040" cy="548640"/>
          </a:xfrm>
          <a:prstGeom prst="rect">
            <a:avLst/>
          </a:prstGeom>
          <a:noFill/>
          <a:ln/>
        </p:spPr>
        <p:txBody>
          <a:bodyPr wrap="square" lIns="0" tIns="0" rIns="0" bIns="0" rtlCol="0" anchor="ctr"/>
          <a:lstStyle/>
          <a:p>
            <a:pPr indent="0" marL="0">
              <a:buNone/>
            </a:pPr>
            <a:r>
              <a:rPr lang="en-US" sz="1700" b="1" dirty="0">
                <a:solidFill>
                  <a:srgbClr val="FFDE59"/>
                </a:solidFill>
                <a:latin typeface="Trebuchet MS" pitchFamily="34" charset="0"/>
                <a:ea typeface="Trebuchet MS" pitchFamily="34" charset="-122"/>
                <a:cs typeface="Trebuchet MS" pitchFamily="34" charset="-120"/>
              </a:rPr>
              <a:t>Mobile constraints improve design</a:t>
            </a:r>
            <a:endParaRPr lang="en-US" sz="1700" dirty="0"/>
          </a:p>
        </p:txBody>
      </p:sp>
      <p:sp>
        <p:nvSpPr>
          <p:cNvPr id="14" name="Text 12"/>
          <p:cNvSpPr/>
          <p:nvPr/>
        </p:nvSpPr>
        <p:spPr>
          <a:xfrm>
            <a:off x="822960" y="4892040"/>
            <a:ext cx="4892040" cy="1280160"/>
          </a:xfrm>
          <a:prstGeom prst="rect">
            <a:avLst/>
          </a:prstGeom>
          <a:noFill/>
          <a:ln/>
        </p:spPr>
        <p:txBody>
          <a:bodyPr wrap="square" lIns="0" tIns="0" rIns="0" bIns="0" rtlCol="0" anchor="ctr"/>
          <a:lstStyle/>
          <a:p>
            <a:pPr indent="0" marL="0">
              <a:lnSpc>
                <a:spcPct val="115000"/>
              </a:lnSpc>
              <a:buNone/>
            </a:pPr>
            <a:r>
              <a:rPr lang="en-US" sz="1350" dirty="0">
                <a:solidFill>
                  <a:srgbClr val="E4E9EF"/>
                </a:solidFill>
                <a:latin typeface="Calibri" pitchFamily="34" charset="0"/>
                <a:ea typeface="Calibri" pitchFamily="34" charset="-122"/>
                <a:cs typeface="Calibri" pitchFamily="34" charset="-120"/>
              </a:rPr>
              <a:t>Solving for small screens first led to a cleaner UI overall, not just a compromise.</a:t>
            </a:r>
            <a:endParaRPr lang="en-US" sz="1350" dirty="0"/>
          </a:p>
        </p:txBody>
      </p:sp>
      <p:sp>
        <p:nvSpPr>
          <p:cNvPr id="15" name="Shape 13"/>
          <p:cNvSpPr/>
          <p:nvPr/>
        </p:nvSpPr>
        <p:spPr>
          <a:xfrm>
            <a:off x="6355080" y="4114800"/>
            <a:ext cx="5440680" cy="2194560"/>
          </a:xfrm>
          <a:prstGeom prst="rect">
            <a:avLst/>
          </a:prstGeom>
          <a:solidFill>
            <a:srgbClr val="1E3354"/>
          </a:solidFill>
          <a:ln/>
        </p:spPr>
      </p:sp>
      <p:sp>
        <p:nvSpPr>
          <p:cNvPr id="16" name="Shape 14"/>
          <p:cNvSpPr/>
          <p:nvPr/>
        </p:nvSpPr>
        <p:spPr>
          <a:xfrm>
            <a:off x="6355080" y="4114800"/>
            <a:ext cx="5440680" cy="54864"/>
          </a:xfrm>
          <a:prstGeom prst="rect">
            <a:avLst/>
          </a:prstGeom>
          <a:solidFill>
            <a:srgbClr val="FFDE59"/>
          </a:solidFill>
          <a:ln/>
        </p:spPr>
      </p:sp>
      <p:sp>
        <p:nvSpPr>
          <p:cNvPr id="17" name="Text 15"/>
          <p:cNvSpPr/>
          <p:nvPr/>
        </p:nvSpPr>
        <p:spPr>
          <a:xfrm>
            <a:off x="6629400" y="4343400"/>
            <a:ext cx="4892040" cy="548640"/>
          </a:xfrm>
          <a:prstGeom prst="rect">
            <a:avLst/>
          </a:prstGeom>
          <a:noFill/>
          <a:ln/>
        </p:spPr>
        <p:txBody>
          <a:bodyPr wrap="square" lIns="0" tIns="0" rIns="0" bIns="0" rtlCol="0" anchor="ctr"/>
          <a:lstStyle/>
          <a:p>
            <a:pPr indent="0" marL="0">
              <a:buNone/>
            </a:pPr>
            <a:r>
              <a:rPr lang="en-US" sz="1700" b="1" dirty="0">
                <a:solidFill>
                  <a:srgbClr val="FFDE59"/>
                </a:solidFill>
                <a:latin typeface="Trebuchet MS" pitchFamily="34" charset="0"/>
                <a:ea typeface="Trebuchet MS" pitchFamily="34" charset="-122"/>
                <a:cs typeface="Trebuchet MS" pitchFamily="34" charset="-120"/>
              </a:rPr>
              <a:t>Done is a moving target — and that's OK</a:t>
            </a:r>
            <a:endParaRPr lang="en-US" sz="1700" dirty="0"/>
          </a:p>
        </p:txBody>
      </p:sp>
      <p:sp>
        <p:nvSpPr>
          <p:cNvPr id="18" name="Text 16"/>
          <p:cNvSpPr/>
          <p:nvPr/>
        </p:nvSpPr>
        <p:spPr>
          <a:xfrm>
            <a:off x="6629400" y="4892040"/>
            <a:ext cx="4892040" cy="1280160"/>
          </a:xfrm>
          <a:prstGeom prst="rect">
            <a:avLst/>
          </a:prstGeom>
          <a:noFill/>
          <a:ln/>
        </p:spPr>
        <p:txBody>
          <a:bodyPr wrap="square" lIns="0" tIns="0" rIns="0" bIns="0" rtlCol="0" anchor="ctr"/>
          <a:lstStyle/>
          <a:p>
            <a:pPr indent="0" marL="0">
              <a:lnSpc>
                <a:spcPct val="115000"/>
              </a:lnSpc>
              <a:buNone/>
            </a:pPr>
            <a:r>
              <a:rPr lang="en-US" sz="1350" dirty="0">
                <a:solidFill>
                  <a:srgbClr val="E4E9EF"/>
                </a:solidFill>
                <a:latin typeface="Calibri" pitchFamily="34" charset="0"/>
                <a:ea typeface="Calibri" pitchFamily="34" charset="-122"/>
                <a:cs typeface="Calibri" pitchFamily="34" charset="-120"/>
              </a:rPr>
              <a:t>There's always one more format, one more edge case. Shipping something useful beats shipping something complete.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Trebuchet MS" pitchFamily="34" charset="0"/>
                <a:ea typeface="Trebuchet MS" pitchFamily="34" charset="-122"/>
                <a:cs typeface="Trebuchet MS" pitchFamily="34" charset="-120"/>
              </a:rPr>
              <a:t>Questions people ask me</a:t>
            </a:r>
            <a:endParaRPr lang="en-US" sz="3000" dirty="0"/>
          </a:p>
        </p:txBody>
      </p:sp>
      <p:sp>
        <p:nvSpPr>
          <p:cNvPr id="3" name="Shape 1"/>
          <p:cNvSpPr/>
          <p:nvPr/>
        </p:nvSpPr>
        <p:spPr>
          <a:xfrm>
            <a:off x="548640" y="1188720"/>
            <a:ext cx="11064240" cy="1188720"/>
          </a:xfrm>
          <a:prstGeom prst="rect">
            <a:avLst/>
          </a:prstGeom>
          <a:solidFill>
            <a:srgbClr val="F4F6F8"/>
          </a:solidFill>
          <a:ln/>
        </p:spPr>
      </p:sp>
      <p:sp>
        <p:nvSpPr>
          <p:cNvPr id="4" name="Text 2"/>
          <p:cNvSpPr/>
          <p:nvPr/>
        </p:nvSpPr>
        <p:spPr>
          <a:xfrm>
            <a:off x="822960" y="1325880"/>
            <a:ext cx="10515600" cy="411480"/>
          </a:xfrm>
          <a:prstGeom prst="rect">
            <a:avLst/>
          </a:prstGeom>
          <a:noFill/>
          <a:ln/>
        </p:spPr>
        <p:txBody>
          <a:bodyPr wrap="square" lIns="0" tIns="0" rIns="0" bIns="0" rtlCol="0" anchor="ctr"/>
          <a:lstStyle/>
          <a:p>
            <a:pPr indent="0" marL="0">
              <a:buNone/>
            </a:pPr>
            <a:r>
              <a:rPr lang="en-US" sz="1500" b="1" dirty="0">
                <a:solidFill>
                  <a:srgbClr val="1C7293"/>
                </a:solidFill>
                <a:latin typeface="Trebuchet MS" pitchFamily="34" charset="0"/>
                <a:ea typeface="Trebuchet MS" pitchFamily="34" charset="-122"/>
                <a:cs typeface="Trebuchet MS" pitchFamily="34" charset="-120"/>
              </a:rPr>
              <a:t>“What's the value beyond just tracking been-to / want-to-go?”</a:t>
            </a:r>
            <a:endParaRPr lang="en-US" sz="1500" dirty="0"/>
          </a:p>
        </p:txBody>
      </p:sp>
      <p:sp>
        <p:nvSpPr>
          <p:cNvPr id="5" name="Text 3"/>
          <p:cNvSpPr/>
          <p:nvPr/>
        </p:nvSpPr>
        <p:spPr>
          <a:xfrm>
            <a:off x="822960" y="1737360"/>
            <a:ext cx="10515600" cy="594360"/>
          </a:xfrm>
          <a:prstGeom prst="rect">
            <a:avLst/>
          </a:prstGeom>
          <a:noFill/>
          <a:ln/>
        </p:spPr>
        <p:txBody>
          <a:bodyPr wrap="square" lIns="0" tIns="0" rIns="0" bIns="0" rtlCol="0" anchor="ctr"/>
          <a:lstStyle/>
          <a:p>
            <a:pPr indent="0" marL="0">
              <a:lnSpc>
                <a:spcPct val="105000"/>
              </a:lnSpc>
              <a:buNone/>
            </a:pPr>
            <a:r>
              <a:rPr lang="en-US" sz="1300" dirty="0">
                <a:solidFill>
                  <a:srgbClr val="1E1E1E"/>
                </a:solidFill>
                <a:latin typeface="Calibri" pitchFamily="34" charset="0"/>
                <a:ea typeface="Calibri" pitchFamily="34" charset="-122"/>
                <a:cs typeface="Calibri" pitchFamily="34" charset="-120"/>
              </a:rPr>
              <a:t>Your own categories + color-coded statuses across all saved places, a trip planner that builds itineraries from a folder, and full ownership/portability of your data — none of which Google Maps offers.</a:t>
            </a:r>
            <a:endParaRPr lang="en-US" sz="1300" dirty="0"/>
          </a:p>
        </p:txBody>
      </p:sp>
      <p:sp>
        <p:nvSpPr>
          <p:cNvPr id="6" name="Shape 4"/>
          <p:cNvSpPr/>
          <p:nvPr/>
        </p:nvSpPr>
        <p:spPr>
          <a:xfrm>
            <a:off x="548640" y="2514600"/>
            <a:ext cx="11064240" cy="1188720"/>
          </a:xfrm>
          <a:prstGeom prst="rect">
            <a:avLst/>
          </a:prstGeom>
          <a:solidFill>
            <a:srgbClr val="F4F6F8"/>
          </a:solidFill>
          <a:ln/>
        </p:spPr>
      </p:sp>
      <p:sp>
        <p:nvSpPr>
          <p:cNvPr id="7" name="Text 5"/>
          <p:cNvSpPr/>
          <p:nvPr/>
        </p:nvSpPr>
        <p:spPr>
          <a:xfrm>
            <a:off x="822960" y="2651760"/>
            <a:ext cx="10515600" cy="411480"/>
          </a:xfrm>
          <a:prstGeom prst="rect">
            <a:avLst/>
          </a:prstGeom>
          <a:noFill/>
          <a:ln/>
        </p:spPr>
        <p:txBody>
          <a:bodyPr wrap="square" lIns="0" tIns="0" rIns="0" bIns="0" rtlCol="0" anchor="ctr"/>
          <a:lstStyle/>
          <a:p>
            <a:pPr indent="0" marL="0">
              <a:buNone/>
            </a:pPr>
            <a:r>
              <a:rPr lang="en-US" sz="1500" b="1" dirty="0">
                <a:solidFill>
                  <a:srgbClr val="1C7293"/>
                </a:solidFill>
                <a:latin typeface="Trebuchet MS" pitchFamily="34" charset="0"/>
                <a:ea typeface="Trebuchet MS" pitchFamily="34" charset="-122"/>
                <a:cs typeface="Trebuchet MS" pitchFamily="34" charset="-120"/>
              </a:rPr>
              <a:t>“Can I import these places back into Google Maps?”</a:t>
            </a:r>
            <a:endParaRPr lang="en-US" sz="1500" dirty="0"/>
          </a:p>
        </p:txBody>
      </p:sp>
      <p:sp>
        <p:nvSpPr>
          <p:cNvPr id="8" name="Text 6"/>
          <p:cNvSpPr/>
          <p:nvPr/>
        </p:nvSpPr>
        <p:spPr>
          <a:xfrm>
            <a:off x="822960" y="3063240"/>
            <a:ext cx="10515600" cy="594360"/>
          </a:xfrm>
          <a:prstGeom prst="rect">
            <a:avLst/>
          </a:prstGeom>
          <a:noFill/>
          <a:ln/>
        </p:spPr>
        <p:txBody>
          <a:bodyPr wrap="square" lIns="0" tIns="0" rIns="0" bIns="0" rtlCol="0" anchor="ctr"/>
          <a:lstStyle/>
          <a:p>
            <a:pPr indent="0" marL="0">
              <a:lnSpc>
                <a:spcPct val="105000"/>
              </a:lnSpc>
              <a:buNone/>
            </a:pPr>
            <a:r>
              <a:rPr lang="en-US" sz="1300" dirty="0">
                <a:solidFill>
                  <a:srgbClr val="1E1E1E"/>
                </a:solidFill>
                <a:latin typeface="Calibri" pitchFamily="34" charset="0"/>
                <a:ea typeface="Calibri" pitchFamily="34" charset="-122"/>
                <a:cs typeface="Calibri" pitchFamily="34" charset="-120"/>
              </a:rPr>
              <a:t>Not yet — exports are MapFolio's own format today, for backup and sharing between MapFolio users. Two-way sync with Google Maps (KML export) is on the wish list.</a:t>
            </a:r>
            <a:endParaRPr lang="en-US" sz="1300" dirty="0"/>
          </a:p>
        </p:txBody>
      </p:sp>
      <p:sp>
        <p:nvSpPr>
          <p:cNvPr id="9" name="Shape 7"/>
          <p:cNvSpPr/>
          <p:nvPr/>
        </p:nvSpPr>
        <p:spPr>
          <a:xfrm>
            <a:off x="548640" y="3840480"/>
            <a:ext cx="11064240" cy="1188720"/>
          </a:xfrm>
          <a:prstGeom prst="rect">
            <a:avLst/>
          </a:prstGeom>
          <a:solidFill>
            <a:srgbClr val="F4F6F8"/>
          </a:solidFill>
          <a:ln/>
        </p:spPr>
      </p:sp>
      <p:sp>
        <p:nvSpPr>
          <p:cNvPr id="10" name="Text 8"/>
          <p:cNvSpPr/>
          <p:nvPr/>
        </p:nvSpPr>
        <p:spPr>
          <a:xfrm>
            <a:off x="822960" y="3977640"/>
            <a:ext cx="10515600" cy="411480"/>
          </a:xfrm>
          <a:prstGeom prst="rect">
            <a:avLst/>
          </a:prstGeom>
          <a:noFill/>
          <a:ln/>
        </p:spPr>
        <p:txBody>
          <a:bodyPr wrap="square" lIns="0" tIns="0" rIns="0" bIns="0" rtlCol="0" anchor="ctr"/>
          <a:lstStyle/>
          <a:p>
            <a:pPr indent="0" marL="0">
              <a:buNone/>
            </a:pPr>
            <a:r>
              <a:rPr lang="en-US" sz="1500" b="1" dirty="0">
                <a:solidFill>
                  <a:srgbClr val="1C7293"/>
                </a:solidFill>
                <a:latin typeface="Trebuchet MS" pitchFamily="34" charset="0"/>
                <a:ea typeface="Trebuchet MS" pitchFamily="34" charset="-122"/>
                <a:cs typeface="Trebuchet MS" pitchFamily="34" charset="-120"/>
              </a:rPr>
              <a:t>“Is this connected to Booking.com?”</a:t>
            </a:r>
            <a:endParaRPr lang="en-US" sz="1500" dirty="0"/>
          </a:p>
        </p:txBody>
      </p:sp>
      <p:sp>
        <p:nvSpPr>
          <p:cNvPr id="11" name="Text 9"/>
          <p:cNvSpPr/>
          <p:nvPr/>
        </p:nvSpPr>
        <p:spPr>
          <a:xfrm>
            <a:off x="822960" y="4389120"/>
            <a:ext cx="10515600" cy="594360"/>
          </a:xfrm>
          <a:prstGeom prst="rect">
            <a:avLst/>
          </a:prstGeom>
          <a:noFill/>
          <a:ln/>
        </p:spPr>
        <p:txBody>
          <a:bodyPr wrap="square" lIns="0" tIns="0" rIns="0" bIns="0" rtlCol="0" anchor="ctr"/>
          <a:lstStyle/>
          <a:p>
            <a:pPr indent="0" marL="0">
              <a:lnSpc>
                <a:spcPct val="105000"/>
              </a:lnSpc>
              <a:buNone/>
            </a:pPr>
            <a:r>
              <a:rPr lang="en-US" sz="1300" dirty="0">
                <a:solidFill>
                  <a:srgbClr val="1E1E1E"/>
                </a:solidFill>
                <a:latin typeface="Calibri" pitchFamily="34" charset="0"/>
                <a:ea typeface="Calibri" pitchFamily="34" charset="-122"/>
                <a:cs typeface="Calibri" pitchFamily="34" charset="-120"/>
              </a:rPr>
              <a:t>Not today — right now it's purely a personal map and trip-planning tool, no external services. But it's a natural future direction: affiliate links to Booking.com, TripAdvisor, etc. for the places in your collection.</a:t>
            </a:r>
            <a:endParaRPr lang="en-US" sz="1300" dirty="0"/>
          </a:p>
        </p:txBody>
      </p:sp>
      <p:sp>
        <p:nvSpPr>
          <p:cNvPr id="12" name="Shape 10"/>
          <p:cNvSpPr/>
          <p:nvPr/>
        </p:nvSpPr>
        <p:spPr>
          <a:xfrm>
            <a:off x="548640" y="5166360"/>
            <a:ext cx="11064240" cy="1371600"/>
          </a:xfrm>
          <a:prstGeom prst="rect">
            <a:avLst/>
          </a:prstGeom>
          <a:solidFill>
            <a:srgbClr val="F4F6F8"/>
          </a:solidFill>
          <a:ln/>
        </p:spPr>
      </p:sp>
      <p:sp>
        <p:nvSpPr>
          <p:cNvPr id="13" name="Text 11"/>
          <p:cNvSpPr/>
          <p:nvPr/>
        </p:nvSpPr>
        <p:spPr>
          <a:xfrm>
            <a:off x="822960" y="5303520"/>
            <a:ext cx="10515600" cy="411480"/>
          </a:xfrm>
          <a:prstGeom prst="rect">
            <a:avLst/>
          </a:prstGeom>
          <a:noFill/>
          <a:ln/>
        </p:spPr>
        <p:txBody>
          <a:bodyPr wrap="square" lIns="0" tIns="0" rIns="0" bIns="0" rtlCol="0" anchor="ctr"/>
          <a:lstStyle/>
          <a:p>
            <a:pPr indent="0" marL="0">
              <a:buNone/>
            </a:pPr>
            <a:r>
              <a:rPr lang="en-US" sz="1500" b="1" dirty="0">
                <a:solidFill>
                  <a:srgbClr val="1C7293"/>
                </a:solidFill>
                <a:latin typeface="Trebuchet MS" pitchFamily="34" charset="0"/>
                <a:ea typeface="Trebuchet MS" pitchFamily="34" charset="-122"/>
                <a:cs typeface="Trebuchet MS" pitchFamily="34" charset="-120"/>
              </a:rPr>
              <a:t>“What if a shared folder has a place I've already visited?”</a:t>
            </a:r>
            <a:endParaRPr lang="en-US" sz="1500" dirty="0"/>
          </a:p>
        </p:txBody>
      </p:sp>
      <p:sp>
        <p:nvSpPr>
          <p:cNvPr id="14" name="Text 12"/>
          <p:cNvSpPr/>
          <p:nvPr/>
        </p:nvSpPr>
        <p:spPr>
          <a:xfrm>
            <a:off x="822960" y="5715000"/>
            <a:ext cx="10515600" cy="777240"/>
          </a:xfrm>
          <a:prstGeom prst="rect">
            <a:avLst/>
          </a:prstGeom>
          <a:noFill/>
          <a:ln/>
        </p:spPr>
        <p:txBody>
          <a:bodyPr wrap="square" lIns="0" tIns="0" rIns="0" bIns="0" rtlCol="0" anchor="ctr"/>
          <a:lstStyle/>
          <a:p>
            <a:pPr indent="0" marL="0">
              <a:lnSpc>
                <a:spcPct val="105000"/>
              </a:lnSpc>
              <a:buNone/>
            </a:pPr>
            <a:r>
              <a:rPr lang="en-US" sz="1300" dirty="0">
                <a:solidFill>
                  <a:srgbClr val="1E1E1E"/>
                </a:solidFill>
                <a:latin typeface="Calibri" pitchFamily="34" charset="0"/>
                <a:ea typeface="Calibri" pitchFamily="34" charset="-122"/>
                <a:cs typeface="Calibri" pitchFamily="34" charset="-120"/>
              </a:rPr>
              <a:t>Your existing status always wins — if MapFolio recognizes the place (same link or name), the imported copy is skipped so your status (e.g. "Loved It") isn't overwritten. It just won't show up in the new shared folder.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14213D"/>
                </a:solidFill>
                <a:latin typeface="Trebuchet MS" pitchFamily="34" charset="0"/>
                <a:ea typeface="Trebuchet MS" pitchFamily="34" charset="-122"/>
                <a:cs typeface="Trebuchet MS" pitchFamily="34" charset="-120"/>
              </a:rPr>
              <a:t>What's next: an idea worth exploring</a:t>
            </a:r>
            <a:endParaRPr lang="en-US" sz="3200" dirty="0"/>
          </a:p>
        </p:txBody>
      </p:sp>
      <p:sp>
        <p:nvSpPr>
          <p:cNvPr id="3" name="Shape 1"/>
          <p:cNvSpPr/>
          <p:nvPr/>
        </p:nvSpPr>
        <p:spPr>
          <a:xfrm>
            <a:off x="548640" y="1371600"/>
            <a:ext cx="11064240" cy="1234440"/>
          </a:xfrm>
          <a:prstGeom prst="rect">
            <a:avLst/>
          </a:prstGeom>
          <a:solidFill>
            <a:srgbClr val="F4F6F8"/>
          </a:solidFill>
          <a:ln/>
        </p:spPr>
      </p:sp>
      <p:sp>
        <p:nvSpPr>
          <p:cNvPr id="4" name="Text 2"/>
          <p:cNvSpPr/>
          <p:nvPr/>
        </p:nvSpPr>
        <p:spPr>
          <a:xfrm>
            <a:off x="822960" y="1508760"/>
            <a:ext cx="10515600" cy="457200"/>
          </a:xfrm>
          <a:prstGeom prst="rect">
            <a:avLst/>
          </a:prstGeom>
          <a:noFill/>
          <a:ln/>
        </p:spPr>
        <p:txBody>
          <a:bodyPr wrap="square" lIns="0" tIns="0" rIns="0" bIns="0" rtlCol="0" anchor="ctr"/>
          <a:lstStyle/>
          <a:p>
            <a:pPr indent="0" marL="0">
              <a:buNone/>
            </a:pPr>
            <a:r>
              <a:rPr lang="en-US" sz="1800" b="1" dirty="0">
                <a:solidFill>
                  <a:srgbClr val="1C7293"/>
                </a:solidFill>
                <a:latin typeface="Trebuchet MS" pitchFamily="34" charset="0"/>
                <a:ea typeface="Trebuchet MS" pitchFamily="34" charset="-122"/>
                <a:cs typeface="Trebuchet MS" pitchFamily="34" charset="-120"/>
              </a:rPr>
              <a:t>💡  Sell curated trip collections</a:t>
            </a:r>
            <a:endParaRPr lang="en-US" sz="1800" dirty="0"/>
          </a:p>
        </p:txBody>
      </p:sp>
      <p:sp>
        <p:nvSpPr>
          <p:cNvPr id="5" name="Text 3"/>
          <p:cNvSpPr/>
          <p:nvPr/>
        </p:nvSpPr>
        <p:spPr>
          <a:xfrm>
            <a:off x="822960" y="1920240"/>
            <a:ext cx="10515600" cy="640080"/>
          </a:xfrm>
          <a:prstGeom prst="rect">
            <a:avLst/>
          </a:prstGeom>
          <a:noFill/>
          <a:ln/>
        </p:spPr>
        <p:txBody>
          <a:bodyPr wrap="square" lIns="0" tIns="0" rIns="0" bIns="0" rtlCol="0" anchor="ctr"/>
          <a:lstStyle/>
          <a:p>
            <a:pPr indent="0" marL="0">
              <a:lnSpc>
                <a:spcPct val="110000"/>
              </a:lnSpc>
              <a:buNone/>
            </a:pPr>
            <a:r>
              <a:rPr lang="en-US" sz="1400" dirty="0">
                <a:solidFill>
                  <a:srgbClr val="1E1E1E"/>
                </a:solidFill>
                <a:latin typeface="Calibri" pitchFamily="34" charset="0"/>
                <a:ea typeface="Calibri" pitchFamily="34" charset="-122"/>
                <a:cs typeface="Calibri" pitchFamily="34" charset="-120"/>
              </a:rPr>
              <a:t>A folder of places + a trip-planner itinerary is basically a ready-made travel guide. People already pay for “where to eat in Lisbon” PDFs and curated maps — MapFolio could let creators package and sell their own collections.</a:t>
            </a:r>
            <a:endParaRPr lang="en-US" sz="1400" dirty="0"/>
          </a:p>
        </p:txBody>
      </p:sp>
      <p:sp>
        <p:nvSpPr>
          <p:cNvPr id="6" name="Shape 4"/>
          <p:cNvSpPr/>
          <p:nvPr/>
        </p:nvSpPr>
        <p:spPr>
          <a:xfrm>
            <a:off x="548640" y="2880360"/>
            <a:ext cx="3611880" cy="3246120"/>
          </a:xfrm>
          <a:prstGeom prst="rect">
            <a:avLst/>
          </a:prstGeom>
          <a:solidFill>
            <a:srgbClr val="14213D"/>
          </a:solidFill>
          <a:ln/>
        </p:spPr>
      </p:sp>
      <p:sp>
        <p:nvSpPr>
          <p:cNvPr id="7" name="Text 5"/>
          <p:cNvSpPr/>
          <p:nvPr/>
        </p:nvSpPr>
        <p:spPr>
          <a:xfrm>
            <a:off x="777240" y="3063240"/>
            <a:ext cx="82296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8" name="Text 6"/>
          <p:cNvSpPr/>
          <p:nvPr/>
        </p:nvSpPr>
        <p:spPr>
          <a:xfrm>
            <a:off x="777240" y="3703320"/>
            <a:ext cx="3154680" cy="50292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Premium folders</a:t>
            </a:r>
            <a:endParaRPr lang="en-US" sz="1600" dirty="0"/>
          </a:p>
        </p:txBody>
      </p:sp>
      <p:sp>
        <p:nvSpPr>
          <p:cNvPr id="9" name="Text 7"/>
          <p:cNvSpPr/>
          <p:nvPr/>
        </p:nvSpPr>
        <p:spPr>
          <a:xfrm>
            <a:off x="777240" y="4251960"/>
            <a:ext cx="3154680" cy="1737360"/>
          </a:xfrm>
          <a:prstGeom prst="rect">
            <a:avLst/>
          </a:prstGeom>
          <a:noFill/>
          <a:ln/>
        </p:spPr>
        <p:txBody>
          <a:bodyPr wrap="square" lIns="0" tIns="0" rIns="0" bIns="0" rtlCol="0" anchor="ctr"/>
          <a:lstStyle/>
          <a:p>
            <a:pPr indent="0" marL="0">
              <a:lnSpc>
                <a:spcPct val="115000"/>
              </a:lnSpc>
              <a:buNone/>
            </a:pPr>
            <a:r>
              <a:rPr lang="en-US" sz="1300" dirty="0">
                <a:solidFill>
                  <a:srgbClr val="E4E9EF"/>
                </a:solidFill>
                <a:latin typeface="Calibri" pitchFamily="34" charset="0"/>
                <a:ea typeface="Calibri" pitchFamily="34" charset="-122"/>
                <a:cs typeface="Calibri" pitchFamily="34" charset="-120"/>
              </a:rPr>
              <a:t>Creators (locals, frequent travellers, influencers) publish a folder as a paid “trip pack” — e.g. “3 days in Lisbon, foodie edition”.</a:t>
            </a:r>
            <a:endParaRPr lang="en-US" sz="1300" dirty="0"/>
          </a:p>
        </p:txBody>
      </p:sp>
      <p:sp>
        <p:nvSpPr>
          <p:cNvPr id="10" name="Shape 8"/>
          <p:cNvSpPr/>
          <p:nvPr/>
        </p:nvSpPr>
        <p:spPr>
          <a:xfrm>
            <a:off x="4434840" y="2880360"/>
            <a:ext cx="3611880" cy="3246120"/>
          </a:xfrm>
          <a:prstGeom prst="rect">
            <a:avLst/>
          </a:prstGeom>
          <a:solidFill>
            <a:srgbClr val="14213D"/>
          </a:solidFill>
          <a:ln/>
        </p:spPr>
      </p:sp>
      <p:sp>
        <p:nvSpPr>
          <p:cNvPr id="11" name="Text 9"/>
          <p:cNvSpPr/>
          <p:nvPr/>
        </p:nvSpPr>
        <p:spPr>
          <a:xfrm>
            <a:off x="4663440" y="3063240"/>
            <a:ext cx="82296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2" name="Text 10"/>
          <p:cNvSpPr/>
          <p:nvPr/>
        </p:nvSpPr>
        <p:spPr>
          <a:xfrm>
            <a:off x="4663440" y="3703320"/>
            <a:ext cx="3154680" cy="50292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Itinerary included</a:t>
            </a:r>
            <a:endParaRPr lang="en-US" sz="1600" dirty="0"/>
          </a:p>
        </p:txBody>
      </p:sp>
      <p:sp>
        <p:nvSpPr>
          <p:cNvPr id="13" name="Text 11"/>
          <p:cNvSpPr/>
          <p:nvPr/>
        </p:nvSpPr>
        <p:spPr>
          <a:xfrm>
            <a:off x="4663440" y="4251960"/>
            <a:ext cx="3154680" cy="1737360"/>
          </a:xfrm>
          <a:prstGeom prst="rect">
            <a:avLst/>
          </a:prstGeom>
          <a:noFill/>
          <a:ln/>
        </p:spPr>
        <p:txBody>
          <a:bodyPr wrap="square" lIns="0" tIns="0" rIns="0" bIns="0" rtlCol="0" anchor="ctr"/>
          <a:lstStyle/>
          <a:p>
            <a:pPr indent="0" marL="0">
              <a:lnSpc>
                <a:spcPct val="115000"/>
              </a:lnSpc>
              <a:buNone/>
            </a:pPr>
            <a:r>
              <a:rPr lang="en-US" sz="1300" dirty="0">
                <a:solidFill>
                  <a:srgbClr val="E4E9EF"/>
                </a:solidFill>
                <a:latin typeface="Calibri" pitchFamily="34" charset="0"/>
                <a:ea typeface="Calibri" pitchFamily="34" charset="-122"/>
                <a:cs typeface="Calibri" pitchFamily="34" charset="-120"/>
              </a:rPr>
              <a:t>Buyers get the places plus a ready-made day-by-day plan from the trip planner — not just a list of pins.</a:t>
            </a:r>
            <a:endParaRPr lang="en-US" sz="1300" dirty="0"/>
          </a:p>
        </p:txBody>
      </p:sp>
      <p:sp>
        <p:nvSpPr>
          <p:cNvPr id="14" name="Shape 12"/>
          <p:cNvSpPr/>
          <p:nvPr/>
        </p:nvSpPr>
        <p:spPr>
          <a:xfrm>
            <a:off x="8321040" y="2880360"/>
            <a:ext cx="3611880" cy="3246120"/>
          </a:xfrm>
          <a:prstGeom prst="rect">
            <a:avLst/>
          </a:prstGeom>
          <a:solidFill>
            <a:srgbClr val="14213D"/>
          </a:solidFill>
          <a:ln/>
        </p:spPr>
      </p:sp>
      <p:sp>
        <p:nvSpPr>
          <p:cNvPr id="15" name="Text 13"/>
          <p:cNvSpPr/>
          <p:nvPr/>
        </p:nvSpPr>
        <p:spPr>
          <a:xfrm>
            <a:off x="8549640" y="3063240"/>
            <a:ext cx="82296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6" name="Text 14"/>
          <p:cNvSpPr/>
          <p:nvPr/>
        </p:nvSpPr>
        <p:spPr>
          <a:xfrm>
            <a:off x="8549640" y="3703320"/>
            <a:ext cx="3154680" cy="502920"/>
          </a:xfrm>
          <a:prstGeom prst="rect">
            <a:avLst/>
          </a:prstGeom>
          <a:noFill/>
          <a:ln/>
        </p:spPr>
        <p:txBody>
          <a:bodyPr wrap="square" lIns="0" tIns="0" rIns="0" bIns="0" rtlCol="0" anchor="ctr"/>
          <a:lstStyle/>
          <a:p>
            <a:pPr indent="0" marL="0">
              <a:buNone/>
            </a:pPr>
            <a:r>
              <a:rPr lang="en-US" sz="1600" b="1" dirty="0">
                <a:solidFill>
                  <a:srgbClr val="FFDE59"/>
                </a:solidFill>
                <a:latin typeface="Trebuchet MS" pitchFamily="34" charset="0"/>
                <a:ea typeface="Trebuchet MS" pitchFamily="34" charset="-122"/>
                <a:cs typeface="Trebuchet MS" pitchFamily="34" charset="-120"/>
              </a:rPr>
              <a:t>Built on what exists</a:t>
            </a:r>
            <a:endParaRPr lang="en-US" sz="1600" dirty="0"/>
          </a:p>
        </p:txBody>
      </p:sp>
      <p:sp>
        <p:nvSpPr>
          <p:cNvPr id="17" name="Text 15"/>
          <p:cNvSpPr/>
          <p:nvPr/>
        </p:nvSpPr>
        <p:spPr>
          <a:xfrm>
            <a:off x="8549640" y="4251960"/>
            <a:ext cx="3154680" cy="1737360"/>
          </a:xfrm>
          <a:prstGeom prst="rect">
            <a:avLst/>
          </a:prstGeom>
          <a:noFill/>
          <a:ln/>
        </p:spPr>
        <p:txBody>
          <a:bodyPr wrap="square" lIns="0" tIns="0" rIns="0" bIns="0" rtlCol="0" anchor="ctr"/>
          <a:lstStyle/>
          <a:p>
            <a:pPr indent="0" marL="0">
              <a:lnSpc>
                <a:spcPct val="115000"/>
              </a:lnSpc>
              <a:buNone/>
            </a:pPr>
            <a:r>
              <a:rPr lang="en-US" sz="1300" dirty="0">
                <a:solidFill>
                  <a:srgbClr val="E4E9EF"/>
                </a:solidFill>
                <a:latin typeface="Calibri" pitchFamily="34" charset="0"/>
                <a:ea typeface="Calibri" pitchFamily="34" charset="-122"/>
                <a:cs typeface="Calibri" pitchFamily="34" charset="-120"/>
              </a:rPr>
              <a:t>The export/import and trip-planner features already do most of the work — this is mainly a packaging + marketplace layer on top.</a:t>
            </a:r>
            <a:endParaRPr lang="en-US" sz="1300" dirty="0"/>
          </a:p>
        </p:txBody>
      </p:sp>
      <p:sp>
        <p:nvSpPr>
          <p:cNvPr id="18" name="Text 16"/>
          <p:cNvSpPr/>
          <p:nvPr/>
        </p:nvSpPr>
        <p:spPr>
          <a:xfrm>
            <a:off x="548640" y="6263640"/>
            <a:ext cx="11064240" cy="457200"/>
          </a:xfrm>
          <a:prstGeom prst="rect">
            <a:avLst/>
          </a:prstGeom>
          <a:noFill/>
          <a:ln/>
        </p:spPr>
        <p:txBody>
          <a:bodyPr wrap="square" lIns="0" tIns="0" rIns="0" bIns="0" rtlCol="0" anchor="ctr"/>
          <a:lstStyle/>
          <a:p>
            <a:pPr indent="0" marL="0">
              <a:buNone/>
            </a:pPr>
            <a:r>
              <a:rPr lang="en-US" sz="1300" i="1" dirty="0">
                <a:solidFill>
                  <a:srgbClr val="5A6B7A"/>
                </a:solidFill>
                <a:latin typeface="Calibri" pitchFamily="34" charset="0"/>
                <a:ea typeface="Calibri" pitchFamily="34" charset="-122"/>
                <a:cs typeface="Calibri" pitchFamily="34" charset="-120"/>
              </a:rPr>
              <a:t>Still an open question: how to keep “no account needed” for browsing while supporting payments and creator profiles for sellers.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1C7293">
              <a:alpha val="25000"/>
            </a:srgbClr>
          </a:solidFill>
          <a:ln/>
        </p:spPr>
      </p:sp>
      <p:sp>
        <p:nvSpPr>
          <p:cNvPr id="3" name="Text 1"/>
          <p:cNvSpPr/>
          <p:nvPr/>
        </p:nvSpPr>
        <p:spPr>
          <a:xfrm>
            <a:off x="822960" y="914400"/>
            <a:ext cx="73152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Try it yourself</a:t>
            </a:r>
            <a:endParaRPr lang="en-US" sz="4000" dirty="0"/>
          </a:p>
        </p:txBody>
      </p:sp>
      <p:sp>
        <p:nvSpPr>
          <p:cNvPr id="4" name="Text 2"/>
          <p:cNvSpPr/>
          <p:nvPr/>
        </p:nvSpPr>
        <p:spPr>
          <a:xfrm>
            <a:off x="822960" y="2194560"/>
            <a:ext cx="7315200" cy="2926080"/>
          </a:xfrm>
          <a:prstGeom prst="rect">
            <a:avLst/>
          </a:prstGeom>
          <a:noFill/>
          <a:ln/>
        </p:spPr>
        <p:txBody>
          <a:bodyPr wrap="square" lIns="0" tIns="0" rIns="0" bIns="0" rtlCol="0" anchor="t"/>
          <a:lstStyle/>
          <a:p>
            <a:pPr indent="0" marL="0">
              <a:lnSpc>
                <a:spcPct val="120000"/>
              </a:lnSpc>
              <a:spcAft>
                <a:spcPts val="1400"/>
              </a:spcAft>
              <a:buNone/>
            </a:pPr>
            <a:r>
              <a:rPr lang="en-US" sz="2000" dirty="0">
                <a:solidFill>
                  <a:srgbClr val="E4E9EF"/>
                </a:solidFill>
                <a:latin typeface="Calibri" pitchFamily="34" charset="0"/>
                <a:ea typeface="Calibri" pitchFamily="34" charset="-122"/>
                <a:cs typeface="Calibri" pitchFamily="34" charset="-120"/>
              </a:rPr>
              <a:t>🔗  Open the link on your phone or laptop — no install, no sign-up</a:t>
            </a:r>
            <a:endParaRPr lang="en-US" sz="2000" dirty="0"/>
          </a:p>
          <a:p>
            <a:pPr indent="0" marL="0">
              <a:lnSpc>
                <a:spcPct val="120000"/>
              </a:lnSpc>
              <a:spcAft>
                <a:spcPts val="1400"/>
              </a:spcAft>
              <a:buNone/>
            </a:pPr>
            <a:r>
              <a:rPr lang="en-US" sz="2000" dirty="0">
                <a:solidFill>
                  <a:srgbClr val="E4E9EF"/>
                </a:solidFill>
                <a:latin typeface="Calibri" pitchFamily="34" charset="0"/>
                <a:ea typeface="Calibri" pitchFamily="34" charset="-122"/>
                <a:cs typeface="Calibri" pitchFamily="34" charset="-120"/>
              </a:rPr>
              <a:t>📲  Add it to your home screen for one-tap access</a:t>
            </a:r>
            <a:endParaRPr lang="en-US" sz="2000" dirty="0"/>
          </a:p>
          <a:p>
            <a:pPr indent="0" marL="0">
              <a:lnSpc>
                <a:spcPct val="120000"/>
              </a:lnSpc>
              <a:spcAft>
                <a:spcPts val="1400"/>
              </a:spcAft>
              <a:buNone/>
            </a:pPr>
            <a:r>
              <a:rPr lang="en-US" sz="2000" dirty="0">
                <a:solidFill>
                  <a:srgbClr val="E4E9EF"/>
                </a:solidFill>
                <a:latin typeface="Calibri" pitchFamily="34" charset="0"/>
                <a:ea typeface="Calibri" pitchFamily="34" charset="-122"/>
                <a:cs typeface="Calibri" pitchFamily="34" charset="-120"/>
              </a:rPr>
              <a:t>📥  Try importing a few Google Maps saved places, or just add some manually</a:t>
            </a:r>
            <a:endParaRPr lang="en-US" sz="2000" dirty="0"/>
          </a:p>
          <a:p>
            <a:pPr indent="0" marL="0">
              <a:lnSpc>
                <a:spcPct val="120000"/>
              </a:lnSpc>
              <a:buNone/>
            </a:pPr>
            <a:r>
              <a:rPr lang="en-US" sz="2000" dirty="0">
                <a:solidFill>
                  <a:srgbClr val="E4E9EF"/>
                </a:solidFill>
                <a:latin typeface="Calibri" pitchFamily="34" charset="0"/>
                <a:ea typeface="Calibri" pitchFamily="34" charset="-122"/>
                <a:cs typeface="Calibri" pitchFamily="34" charset="-120"/>
              </a:rPr>
              <a:t>🔒  Everything stays on your device — nothing is uploaded anywhere</a:t>
            </a:r>
            <a:endParaRPr lang="en-US" sz="2000" dirty="0"/>
          </a:p>
        </p:txBody>
      </p:sp>
      <p:sp>
        <p:nvSpPr>
          <p:cNvPr id="5" name="Shape 3"/>
          <p:cNvSpPr/>
          <p:nvPr/>
        </p:nvSpPr>
        <p:spPr>
          <a:xfrm>
            <a:off x="8778240" y="1371600"/>
            <a:ext cx="2743200" cy="3291840"/>
          </a:xfrm>
          <a:prstGeom prst="rect">
            <a:avLst/>
          </a:prstGeom>
          <a:solidFill>
            <a:srgbClr val="FFFFFF"/>
          </a:solidFill>
          <a:ln/>
          <a:effectLst>
            <a:outerShdw sx="100000" sy="100000" kx="0" ky="0" algn="bl" rotWithShape="0" blurRad="101600" dist="38100" dir="8100000">
              <a:srgbClr val="000000">
                <a:alpha val="30000"/>
              </a:srgbClr>
            </a:outerShdw>
          </a:effectLst>
        </p:spPr>
      </p:sp>
      <p:pic>
        <p:nvPicPr>
          <p:cNvPr id="6" name="Image 0" descr="shots/qr-code.png">    </p:cNvPr>
          <p:cNvPicPr>
            <a:picLocks noChangeAspect="1"/>
          </p:cNvPicPr>
          <p:nvPr/>
        </p:nvPicPr>
        <p:blipFill>
          <a:blip r:embed="rId1"/>
          <a:stretch>
            <a:fillRect/>
          </a:stretch>
        </p:blipFill>
        <p:spPr>
          <a:xfrm>
            <a:off x="9006840" y="1600200"/>
            <a:ext cx="2286000" cy="2286000"/>
          </a:xfrm>
          <a:prstGeom prst="rect">
            <a:avLst/>
          </a:prstGeom>
        </p:spPr>
      </p:pic>
      <p:sp>
        <p:nvSpPr>
          <p:cNvPr id="7" name="Text 4"/>
          <p:cNvSpPr/>
          <p:nvPr/>
        </p:nvSpPr>
        <p:spPr>
          <a:xfrm>
            <a:off x="8778240" y="3931920"/>
            <a:ext cx="2743200" cy="365760"/>
          </a:xfrm>
          <a:prstGeom prst="rect">
            <a:avLst/>
          </a:prstGeom>
          <a:noFill/>
          <a:ln/>
        </p:spPr>
        <p:txBody>
          <a:bodyPr wrap="square" lIns="0" tIns="0" rIns="0" bIns="0" rtlCol="0" anchor="ctr"/>
          <a:lstStyle/>
          <a:p>
            <a:pPr algn="ctr" indent="0" marL="0">
              <a:buNone/>
            </a:pPr>
            <a:r>
              <a:rPr lang="en-US" sz="1300" b="1" dirty="0">
                <a:solidFill>
                  <a:srgbClr val="14213D"/>
                </a:solidFill>
                <a:latin typeface="Trebuchet MS" pitchFamily="34" charset="0"/>
                <a:ea typeface="Trebuchet MS" pitchFamily="34" charset="-122"/>
                <a:cs typeface="Trebuchet MS" pitchFamily="34" charset="-120"/>
              </a:rPr>
              <a:t>Scan to open MapFolio</a:t>
            </a:r>
            <a:endParaRPr lang="en-US" sz="1300" dirty="0"/>
          </a:p>
        </p:txBody>
      </p:sp>
      <p:sp>
        <p:nvSpPr>
          <p:cNvPr id="8" name="Text 5"/>
          <p:cNvSpPr/>
          <p:nvPr/>
        </p:nvSpPr>
        <p:spPr>
          <a:xfrm>
            <a:off x="8778240" y="4251960"/>
            <a:ext cx="2743200" cy="32004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my-mapfolio.netlify.app</a:t>
            </a:r>
            <a:endParaRPr lang="en-US" sz="1100" dirty="0"/>
          </a:p>
        </p:txBody>
      </p:sp>
      <p:sp>
        <p:nvSpPr>
          <p:cNvPr id="9" name="Text 6"/>
          <p:cNvSpPr/>
          <p:nvPr/>
        </p:nvSpPr>
        <p:spPr>
          <a:xfrm>
            <a:off x="822960" y="5760720"/>
            <a:ext cx="10058400" cy="548640"/>
          </a:xfrm>
          <a:prstGeom prst="rect">
            <a:avLst/>
          </a:prstGeom>
          <a:noFill/>
          <a:ln/>
        </p:spPr>
        <p:txBody>
          <a:bodyPr wrap="square" lIns="0" tIns="0" rIns="0" bIns="0" rtlCol="0" anchor="ctr"/>
          <a:lstStyle/>
          <a:p>
            <a:pPr indent="0" marL="0">
              <a:buNone/>
            </a:pPr>
            <a:r>
              <a:rPr lang="en-US" sz="1600" i="1" dirty="0">
                <a:solidFill>
                  <a:srgbClr val="FFDE59"/>
                </a:solidFill>
                <a:latin typeface="Calibri" pitchFamily="34" charset="0"/>
                <a:ea typeface="Calibri" pitchFamily="34" charset="-122"/>
                <a:cs typeface="Calibri" pitchFamily="34" charset="-120"/>
              </a:rPr>
              <a:t>Thank you! Feedback, bug reports, and “what about X” ideas all very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MapFolio - Demo Day</dc:title>
  <dc:subject>PptxGenJS Presentation</dc:subject>
  <dc:creator>Liliia Sainchuk</dc:creator>
  <cp:lastModifiedBy>Liliia Sainchuk</cp:lastModifiedBy>
  <cp:revision>1</cp:revision>
  <dcterms:created xsi:type="dcterms:W3CDTF">2026-06-15T09:30:45Z</dcterms:created>
  <dcterms:modified xsi:type="dcterms:W3CDTF">2026-06-15T09:30:45Z</dcterms:modified>
</cp:coreProperties>
</file>